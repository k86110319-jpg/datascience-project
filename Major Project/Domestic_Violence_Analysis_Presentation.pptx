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Barlow Bold" charset="1" panose="00000800000000000000"/>
      <p:regular r:id="rId19"/>
    </p:embeddedFont>
    <p:embeddedFont>
      <p:font typeface="Barlow" charset="1" panose="000005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notesSlides/notesSlide2.xml" Type="http://schemas.openxmlformats.org/officeDocument/2006/relationships/notesSlide"/><Relationship Id="rId22" Target="notesSlides/notesSlide3.xml" Type="http://schemas.openxmlformats.org/officeDocument/2006/relationships/notesSlide"/><Relationship Id="rId23" Target="notesSlides/notesSlide4.xml" Type="http://schemas.openxmlformats.org/officeDocument/2006/relationships/notesSlide"/><Relationship Id="rId24" Target="notesSlides/notesSlide5.xml" Type="http://schemas.openxmlformats.org/officeDocument/2006/relationships/notesSlide"/><Relationship Id="rId25" Target="notesSlides/notesSlide6.xml" Type="http://schemas.openxmlformats.org/officeDocument/2006/relationships/notesSlide"/><Relationship Id="rId26" Target="notesSlides/notesSlide7.xml" Type="http://schemas.openxmlformats.org/officeDocument/2006/relationships/notesSlide"/><Relationship Id="rId27" Target="notesSlides/notesSlide8.xml" Type="http://schemas.openxmlformats.org/officeDocument/2006/relationships/notesSlide"/><Relationship Id="rId28" Target="notesSlides/notesSlide9.xml" Type="http://schemas.openxmlformats.org/officeDocument/2006/relationships/notesSlide"/><Relationship Id="rId29" Target="notesSlides/notesSlide10.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8</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https://gamma.app/?utm_source=made-with-gamma" TargetMode="External" Type="http://schemas.openxmlformats.org/officeDocument/2006/relationships/hyperlink"/><Relationship Id="rId5" Target="../media/image2.png" Type="http://schemas.openxmlformats.org/officeDocument/2006/relationships/image"/><Relationship Id="rId6"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https://gamma.app/?utm_source=made-with-gamma" TargetMode="External" Type="http://schemas.openxmlformats.org/officeDocument/2006/relationships/hyperlink"/><Relationship Id="rId5" Target="../media/image2.png" Type="http://schemas.openxmlformats.org/officeDocument/2006/relationships/image"/><Relationship Id="rId6" Target="../media/image4.jpeg" Type="http://schemas.openxmlformats.org/officeDocument/2006/relationships/image"/><Relationship Id="rId7"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jpeg" Type="http://schemas.openxmlformats.org/officeDocument/2006/relationships/image"/><Relationship Id="rId7" Target="../media/image9.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10.jpe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2" Target="../notesSlides/notesSlide5.xml" Type="http://schemas.openxmlformats.org/officeDocument/2006/relationships/notesSlide"/><Relationship Id="rId3" Target="../media/image1.jpe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22.jpeg" Type="http://schemas.openxmlformats.org/officeDocument/2006/relationships/image"/><Relationship Id="rId5" Target="../media/image2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24.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25.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26.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91718">
                <a:alpha val="81176"/>
              </a:srgbClr>
            </a:solidFill>
          </p:spPr>
        </p:sp>
      </p:grpSp>
      <p:grpSp>
        <p:nvGrpSpPr>
          <p:cNvPr name="Group 6" id="6"/>
          <p:cNvGrpSpPr/>
          <p:nvPr/>
        </p:nvGrpSpPr>
        <p:grpSpPr>
          <a:xfrm rot="0">
            <a:off x="16058359" y="9688982"/>
            <a:ext cx="2143696" cy="512064"/>
            <a:chOff x="0" y="0"/>
            <a:chExt cx="2858262" cy="682752"/>
          </a:xfrm>
        </p:grpSpPr>
        <p:sp>
          <p:nvSpPr>
            <p:cNvPr name="Freeform 7" id="7" descr="preencoded.png">
              <a:hlinkClick r:id="rId4"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5"/>
              <a:stretch>
                <a:fillRect l="-81" t="0" r="-80"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6"/>
              <a:stretch>
                <a:fillRect l="0" t="0" r="0" b="0"/>
              </a:stretch>
            </a:blipFill>
          </p:spPr>
        </p:sp>
      </p:grpSp>
      <p:sp>
        <p:nvSpPr>
          <p:cNvPr name="TextBox 10" id="10"/>
          <p:cNvSpPr txBox="true"/>
          <p:nvPr/>
        </p:nvSpPr>
        <p:spPr>
          <a:xfrm rot="0">
            <a:off x="1080049" y="3449841"/>
            <a:ext cx="9096080" cy="933450"/>
          </a:xfrm>
          <a:prstGeom prst="rect">
            <a:avLst/>
          </a:prstGeom>
        </p:spPr>
        <p:txBody>
          <a:bodyPr anchor="t" rtlCol="false" tIns="0" lIns="0" bIns="0" rIns="0">
            <a:spAutoFit/>
          </a:bodyPr>
          <a:lstStyle/>
          <a:p>
            <a:pPr algn="l">
              <a:lnSpc>
                <a:spcPts val="6738"/>
              </a:lnSpc>
            </a:pPr>
            <a:r>
              <a:rPr lang="en-US" sz="5400" b="true">
                <a:solidFill>
                  <a:srgbClr val="FFFFFF"/>
                </a:solidFill>
                <a:latin typeface="Barlow Bold"/>
                <a:ea typeface="Barlow Bold"/>
                <a:cs typeface="Barlow Bold"/>
                <a:sym typeface="Barlow Bold"/>
              </a:rPr>
              <a:t>Domestic Violence Analysis</a:t>
            </a:r>
          </a:p>
        </p:txBody>
      </p:sp>
      <p:sp>
        <p:nvSpPr>
          <p:cNvPr name="TextBox 11" id="11"/>
          <p:cNvSpPr txBox="true"/>
          <p:nvPr/>
        </p:nvSpPr>
        <p:spPr>
          <a:xfrm rot="0">
            <a:off x="1080049" y="4636589"/>
            <a:ext cx="9269911" cy="1197178"/>
          </a:xfrm>
          <a:prstGeom prst="rect">
            <a:avLst/>
          </a:prstGeom>
        </p:spPr>
        <p:txBody>
          <a:bodyPr anchor="t" rtlCol="false" tIns="0" lIns="0" bIns="0" rIns="0">
            <a:spAutoFit/>
          </a:bodyPr>
          <a:lstStyle/>
          <a:p>
            <a:pPr algn="l">
              <a:lnSpc>
                <a:spcPts val="3830"/>
              </a:lnSpc>
            </a:pPr>
            <a:r>
              <a:rPr lang="en-US" sz="2400">
                <a:solidFill>
                  <a:srgbClr val="E5E0DF"/>
                </a:solidFill>
                <a:latin typeface="Barlow"/>
                <a:ea typeface="Barlow"/>
                <a:cs typeface="Barlow"/>
                <a:sym typeface="Barlow"/>
              </a:rPr>
              <a:t>Using </a:t>
            </a:r>
            <a:r>
              <a:rPr lang="en-US" sz="2400" b="true">
                <a:solidFill>
                  <a:srgbClr val="F65F62"/>
                </a:solidFill>
                <a:latin typeface="Barlow Bold"/>
                <a:ea typeface="Barlow Bold"/>
                <a:cs typeface="Barlow Bold"/>
                <a:sym typeface="Barlow Bold"/>
              </a:rPr>
              <a:t>Power BI</a:t>
            </a:r>
            <a:r>
              <a:rPr lang="en-US" sz="2400">
                <a:solidFill>
                  <a:srgbClr val="E5E0DF"/>
                </a:solidFill>
                <a:latin typeface="Barlow"/>
                <a:ea typeface="Barlow"/>
                <a:cs typeface="Barlow"/>
                <a:sym typeface="Barlow"/>
              </a:rPr>
              <a:t> to analyze domestic violence  patterns, identify risk factors , and  support data - driven decisions.</a:t>
            </a:r>
          </a:p>
        </p:txBody>
      </p:sp>
      <p:grpSp>
        <p:nvGrpSpPr>
          <p:cNvPr name="Group 12" id="12"/>
          <p:cNvGrpSpPr/>
          <p:nvPr/>
        </p:nvGrpSpPr>
        <p:grpSpPr>
          <a:xfrm rot="0">
            <a:off x="1080049" y="6180830"/>
            <a:ext cx="2662047" cy="580168"/>
            <a:chOff x="0" y="0"/>
            <a:chExt cx="3549396" cy="773557"/>
          </a:xfrm>
        </p:grpSpPr>
        <p:sp>
          <p:nvSpPr>
            <p:cNvPr name="Freeform 13" id="13"/>
            <p:cNvSpPr/>
            <p:nvPr/>
          </p:nvSpPr>
          <p:spPr>
            <a:xfrm flipH="false" flipV="false" rot="0">
              <a:off x="0" y="0"/>
              <a:ext cx="3549396" cy="773557"/>
            </a:xfrm>
            <a:custGeom>
              <a:avLst/>
              <a:gdLst/>
              <a:ahLst/>
              <a:cxnLst/>
              <a:rect r="r" b="b" t="t" l="l"/>
              <a:pathLst>
                <a:path h="773557" w="3549396">
                  <a:moveTo>
                    <a:pt x="0" y="138303"/>
                  </a:moveTo>
                  <a:cubicBezTo>
                    <a:pt x="0" y="61849"/>
                    <a:pt x="61849" y="0"/>
                    <a:pt x="138303" y="0"/>
                  </a:cubicBezTo>
                  <a:lnTo>
                    <a:pt x="3411093" y="0"/>
                  </a:lnTo>
                  <a:cubicBezTo>
                    <a:pt x="3487420" y="0"/>
                    <a:pt x="3549396" y="61849"/>
                    <a:pt x="3549396" y="138303"/>
                  </a:cubicBezTo>
                  <a:lnTo>
                    <a:pt x="3549396" y="635254"/>
                  </a:lnTo>
                  <a:cubicBezTo>
                    <a:pt x="3549396" y="711581"/>
                    <a:pt x="3487547" y="773557"/>
                    <a:pt x="3411093" y="773557"/>
                  </a:cubicBezTo>
                  <a:lnTo>
                    <a:pt x="138303" y="773557"/>
                  </a:lnTo>
                  <a:cubicBezTo>
                    <a:pt x="61849" y="773557"/>
                    <a:pt x="0" y="711581"/>
                    <a:pt x="0" y="635254"/>
                  </a:cubicBezTo>
                  <a:close/>
                </a:path>
              </a:pathLst>
            </a:custGeom>
            <a:solidFill>
              <a:srgbClr val="910D0D"/>
            </a:solidFill>
          </p:spPr>
        </p:sp>
      </p:grpSp>
      <p:sp>
        <p:nvSpPr>
          <p:cNvPr name="TextBox 14" id="14"/>
          <p:cNvSpPr txBox="true"/>
          <p:nvPr/>
        </p:nvSpPr>
        <p:spPr>
          <a:xfrm rot="0">
            <a:off x="1265187" y="6121003"/>
            <a:ext cx="3206058" cy="547392"/>
          </a:xfrm>
          <a:prstGeom prst="rect">
            <a:avLst/>
          </a:prstGeom>
        </p:spPr>
        <p:txBody>
          <a:bodyPr anchor="t" rtlCol="false" tIns="0" lIns="0" bIns="0" rIns="0">
            <a:spAutoFit/>
          </a:bodyPr>
          <a:lstStyle/>
          <a:p>
            <a:pPr algn="l">
              <a:lnSpc>
                <a:spcPts val="3031"/>
              </a:lnSpc>
            </a:pPr>
            <a:r>
              <a:rPr lang="en-US" sz="1900">
                <a:solidFill>
                  <a:srgbClr val="FFFFFF"/>
                </a:solidFill>
                <a:latin typeface="Barlow"/>
                <a:ea typeface="Barlow"/>
                <a:cs typeface="Barlow"/>
                <a:sym typeface="Barlow"/>
              </a:rPr>
              <a:t>  DOMESTIC   VIOLENCE</a:t>
            </a:r>
          </a:p>
        </p:txBody>
      </p:sp>
      <p:grpSp>
        <p:nvGrpSpPr>
          <p:cNvPr name="Group 15" id="15"/>
          <p:cNvGrpSpPr/>
          <p:nvPr/>
        </p:nvGrpSpPr>
        <p:grpSpPr>
          <a:xfrm rot="0">
            <a:off x="3896173" y="6180830"/>
            <a:ext cx="1449800" cy="580168"/>
            <a:chOff x="0" y="0"/>
            <a:chExt cx="1933067" cy="773557"/>
          </a:xfrm>
        </p:grpSpPr>
        <p:sp>
          <p:nvSpPr>
            <p:cNvPr name="Freeform 16" id="16"/>
            <p:cNvSpPr/>
            <p:nvPr/>
          </p:nvSpPr>
          <p:spPr>
            <a:xfrm flipH="false" flipV="false" rot="0">
              <a:off x="0" y="0"/>
              <a:ext cx="1933067" cy="773557"/>
            </a:xfrm>
            <a:custGeom>
              <a:avLst/>
              <a:gdLst/>
              <a:ahLst/>
              <a:cxnLst/>
              <a:rect r="r" b="b" t="t" l="l"/>
              <a:pathLst>
                <a:path h="773557" w="1933067">
                  <a:moveTo>
                    <a:pt x="0" y="138303"/>
                  </a:moveTo>
                  <a:cubicBezTo>
                    <a:pt x="0" y="61849"/>
                    <a:pt x="61849" y="0"/>
                    <a:pt x="138303" y="0"/>
                  </a:cubicBezTo>
                  <a:lnTo>
                    <a:pt x="1794764" y="0"/>
                  </a:lnTo>
                  <a:cubicBezTo>
                    <a:pt x="1871091" y="0"/>
                    <a:pt x="1933067" y="61849"/>
                    <a:pt x="1933067" y="138303"/>
                  </a:cubicBezTo>
                  <a:lnTo>
                    <a:pt x="1933067" y="635254"/>
                  </a:lnTo>
                  <a:cubicBezTo>
                    <a:pt x="1933067" y="711581"/>
                    <a:pt x="1871218" y="773557"/>
                    <a:pt x="1794764" y="773557"/>
                  </a:cubicBezTo>
                  <a:lnTo>
                    <a:pt x="138303" y="773557"/>
                  </a:lnTo>
                  <a:cubicBezTo>
                    <a:pt x="61849" y="773557"/>
                    <a:pt x="0" y="711581"/>
                    <a:pt x="0" y="635254"/>
                  </a:cubicBezTo>
                  <a:close/>
                </a:path>
              </a:pathLst>
            </a:custGeom>
            <a:solidFill>
              <a:srgbClr val="910D0D"/>
            </a:solidFill>
          </p:spPr>
        </p:sp>
      </p:grpSp>
      <p:sp>
        <p:nvSpPr>
          <p:cNvPr name="TextBox 17" id="17"/>
          <p:cNvSpPr txBox="true"/>
          <p:nvPr/>
        </p:nvSpPr>
        <p:spPr>
          <a:xfrm rot="0">
            <a:off x="4081310" y="6121003"/>
            <a:ext cx="1993849" cy="547392"/>
          </a:xfrm>
          <a:prstGeom prst="rect">
            <a:avLst/>
          </a:prstGeom>
        </p:spPr>
        <p:txBody>
          <a:bodyPr anchor="t" rtlCol="false" tIns="0" lIns="0" bIns="0" rIns="0">
            <a:spAutoFit/>
          </a:bodyPr>
          <a:lstStyle/>
          <a:p>
            <a:pPr algn="l">
              <a:lnSpc>
                <a:spcPts val="3031"/>
              </a:lnSpc>
            </a:pPr>
            <a:r>
              <a:rPr lang="en-US" sz="1900">
                <a:solidFill>
                  <a:srgbClr val="FFFFFF"/>
                </a:solidFill>
                <a:latin typeface="Barlow"/>
                <a:ea typeface="Barlow"/>
                <a:cs typeface="Barlow"/>
                <a:sym typeface="Barlow"/>
              </a:rPr>
              <a:t>POWER BI</a:t>
            </a:r>
          </a:p>
        </p:txBody>
      </p:sp>
      <p:grpSp>
        <p:nvGrpSpPr>
          <p:cNvPr name="Group 18" id="18"/>
          <p:cNvGrpSpPr/>
          <p:nvPr/>
        </p:nvGrpSpPr>
        <p:grpSpPr>
          <a:xfrm rot="0">
            <a:off x="5500087" y="6180830"/>
            <a:ext cx="2216086" cy="580168"/>
            <a:chOff x="0" y="0"/>
            <a:chExt cx="2954782" cy="773557"/>
          </a:xfrm>
        </p:grpSpPr>
        <p:sp>
          <p:nvSpPr>
            <p:cNvPr name="Freeform 19" id="19"/>
            <p:cNvSpPr/>
            <p:nvPr/>
          </p:nvSpPr>
          <p:spPr>
            <a:xfrm flipH="false" flipV="false" rot="0">
              <a:off x="0" y="0"/>
              <a:ext cx="2954782" cy="773557"/>
            </a:xfrm>
            <a:custGeom>
              <a:avLst/>
              <a:gdLst/>
              <a:ahLst/>
              <a:cxnLst/>
              <a:rect r="r" b="b" t="t" l="l"/>
              <a:pathLst>
                <a:path h="773557" w="2954782">
                  <a:moveTo>
                    <a:pt x="0" y="138303"/>
                  </a:moveTo>
                  <a:cubicBezTo>
                    <a:pt x="0" y="61849"/>
                    <a:pt x="61849" y="0"/>
                    <a:pt x="138303" y="0"/>
                  </a:cubicBezTo>
                  <a:lnTo>
                    <a:pt x="2816479" y="0"/>
                  </a:lnTo>
                  <a:cubicBezTo>
                    <a:pt x="2892806" y="0"/>
                    <a:pt x="2954782" y="61849"/>
                    <a:pt x="2954782" y="138303"/>
                  </a:cubicBezTo>
                  <a:lnTo>
                    <a:pt x="2954782" y="635254"/>
                  </a:lnTo>
                  <a:cubicBezTo>
                    <a:pt x="2954782" y="711581"/>
                    <a:pt x="2892933" y="773557"/>
                    <a:pt x="2816479" y="773557"/>
                  </a:cubicBezTo>
                  <a:lnTo>
                    <a:pt x="138303" y="773557"/>
                  </a:lnTo>
                  <a:cubicBezTo>
                    <a:pt x="61849" y="773557"/>
                    <a:pt x="0" y="711581"/>
                    <a:pt x="0" y="635254"/>
                  </a:cubicBezTo>
                  <a:close/>
                </a:path>
              </a:pathLst>
            </a:custGeom>
            <a:solidFill>
              <a:srgbClr val="910D0D"/>
            </a:solidFill>
          </p:spPr>
        </p:sp>
      </p:grpSp>
      <p:sp>
        <p:nvSpPr>
          <p:cNvPr name="TextBox 20" id="20"/>
          <p:cNvSpPr txBox="true"/>
          <p:nvPr/>
        </p:nvSpPr>
        <p:spPr>
          <a:xfrm rot="0">
            <a:off x="5685234" y="6121003"/>
            <a:ext cx="2760164" cy="547392"/>
          </a:xfrm>
          <a:prstGeom prst="rect">
            <a:avLst/>
          </a:prstGeom>
        </p:spPr>
        <p:txBody>
          <a:bodyPr anchor="t" rtlCol="false" tIns="0" lIns="0" bIns="0" rIns="0">
            <a:spAutoFit/>
          </a:bodyPr>
          <a:lstStyle/>
          <a:p>
            <a:pPr algn="l">
              <a:lnSpc>
                <a:spcPts val="3031"/>
              </a:lnSpc>
            </a:pPr>
            <a:r>
              <a:rPr lang="en-US" sz="1900">
                <a:solidFill>
                  <a:srgbClr val="FFFFFF"/>
                </a:solidFill>
                <a:latin typeface="Barlow"/>
                <a:ea typeface="Barlow"/>
                <a:cs typeface="Barlow"/>
                <a:sym typeface="Barlow"/>
              </a:rPr>
              <a:t>DATA    ANALYTICS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91718">
                <a:alpha val="81176"/>
              </a:srgbClr>
            </a:solidFill>
          </p:spPr>
        </p:sp>
      </p:grpSp>
      <p:grpSp>
        <p:nvGrpSpPr>
          <p:cNvPr name="Group 6" id="6"/>
          <p:cNvGrpSpPr/>
          <p:nvPr/>
        </p:nvGrpSpPr>
        <p:grpSpPr>
          <a:xfrm rot="0">
            <a:off x="16058359" y="9688982"/>
            <a:ext cx="2143696" cy="512064"/>
            <a:chOff x="0" y="0"/>
            <a:chExt cx="2858262" cy="682752"/>
          </a:xfrm>
        </p:grpSpPr>
        <p:sp>
          <p:nvSpPr>
            <p:cNvPr name="Freeform 7" id="7" descr="preencoded.png">
              <a:hlinkClick r:id="rId4"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5"/>
              <a:stretch>
                <a:fillRect l="-81" t="0" r="-80"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6"/>
              <a:stretch>
                <a:fillRect l="0" t="0" r="0" b="0"/>
              </a:stretch>
            </a:blipFill>
          </p:spPr>
        </p:sp>
      </p:grpSp>
      <p:sp>
        <p:nvSpPr>
          <p:cNvPr name="TextBox 10" id="10"/>
          <p:cNvSpPr txBox="true"/>
          <p:nvPr/>
        </p:nvSpPr>
        <p:spPr>
          <a:xfrm rot="0">
            <a:off x="1080049" y="1888179"/>
            <a:ext cx="7772400" cy="933450"/>
          </a:xfrm>
          <a:prstGeom prst="rect">
            <a:avLst/>
          </a:prstGeom>
        </p:spPr>
        <p:txBody>
          <a:bodyPr anchor="t" rtlCol="false" tIns="0" lIns="0" bIns="0" rIns="0">
            <a:spAutoFit/>
          </a:bodyPr>
          <a:lstStyle/>
          <a:p>
            <a:pPr algn="l">
              <a:lnSpc>
                <a:spcPts val="6738"/>
              </a:lnSpc>
            </a:pPr>
            <a:r>
              <a:rPr lang="en-US" sz="5400" b="true">
                <a:solidFill>
                  <a:srgbClr val="FFFFFF"/>
                </a:solidFill>
                <a:latin typeface="Barlow Bold"/>
                <a:ea typeface="Barlow Bold"/>
                <a:cs typeface="Barlow Bold"/>
                <a:sym typeface="Barlow Bold"/>
              </a:rPr>
              <a:t>Introduction</a:t>
            </a:r>
          </a:p>
        </p:txBody>
      </p:sp>
      <p:sp>
        <p:nvSpPr>
          <p:cNvPr name="TextBox 11" id="11"/>
          <p:cNvSpPr txBox="true"/>
          <p:nvPr/>
        </p:nvSpPr>
        <p:spPr>
          <a:xfrm rot="0">
            <a:off x="1080049" y="3074937"/>
            <a:ext cx="9269911" cy="2678611"/>
          </a:xfrm>
          <a:prstGeom prst="rect">
            <a:avLst/>
          </a:prstGeom>
        </p:spPr>
        <p:txBody>
          <a:bodyPr anchor="t" rtlCol="false" tIns="0" lIns="0" bIns="0" rIns="0">
            <a:spAutoFit/>
          </a:bodyPr>
          <a:lstStyle/>
          <a:p>
            <a:pPr algn="l">
              <a:lnSpc>
                <a:spcPts val="3830"/>
              </a:lnSpc>
            </a:pPr>
            <a:r>
              <a:rPr lang="en-US" sz="2400">
                <a:solidFill>
                  <a:srgbClr val="E5E0DF"/>
                </a:solidFill>
                <a:latin typeface="Barlow"/>
                <a:ea typeface="Barlow"/>
                <a:cs typeface="Barlow"/>
                <a:sym typeface="Barlow"/>
              </a:rPr>
              <a:t>Domestic violence is one of the most pressing social challenges worldwide, affecting millions of individuals across all demographics. This project leverages </a:t>
            </a:r>
            <a:r>
              <a:rPr lang="en-US" sz="2400" b="true">
                <a:solidFill>
                  <a:srgbClr val="F65F62"/>
                </a:solidFill>
                <a:latin typeface="Barlow Bold"/>
                <a:ea typeface="Barlow Bold"/>
                <a:cs typeface="Barlow Bold"/>
                <a:sym typeface="Barlow Bold"/>
              </a:rPr>
              <a:t>Power BI</a:t>
            </a:r>
            <a:r>
              <a:rPr lang="en-US" sz="2400">
                <a:solidFill>
                  <a:srgbClr val="E5E0DF"/>
                </a:solidFill>
                <a:latin typeface="Barlow"/>
                <a:ea typeface="Barlow"/>
                <a:cs typeface="Barlow"/>
                <a:sym typeface="Barlow"/>
              </a:rPr>
              <a:t> to transform raw survey data into visual, interactive insights — helping researchers, policymakers, and social workers identify patterns and prioritize interventions.</a:t>
            </a:r>
          </a:p>
        </p:txBody>
      </p:sp>
      <p:grpSp>
        <p:nvGrpSpPr>
          <p:cNvPr name="Group 12" id="12"/>
          <p:cNvGrpSpPr/>
          <p:nvPr/>
        </p:nvGrpSpPr>
        <p:grpSpPr>
          <a:xfrm rot="0">
            <a:off x="1080049" y="6100610"/>
            <a:ext cx="9269920" cy="2221897"/>
            <a:chOff x="0" y="0"/>
            <a:chExt cx="12359894" cy="2962529"/>
          </a:xfrm>
        </p:grpSpPr>
        <p:sp>
          <p:nvSpPr>
            <p:cNvPr name="Freeform 13" id="13"/>
            <p:cNvSpPr/>
            <p:nvPr/>
          </p:nvSpPr>
          <p:spPr>
            <a:xfrm flipH="false" flipV="false" rot="0">
              <a:off x="0" y="0"/>
              <a:ext cx="12359894" cy="2962529"/>
            </a:xfrm>
            <a:custGeom>
              <a:avLst/>
              <a:gdLst/>
              <a:ahLst/>
              <a:cxnLst/>
              <a:rect r="r" b="b" t="t" l="l"/>
              <a:pathLst>
                <a:path h="2962529" w="12359894">
                  <a:moveTo>
                    <a:pt x="0" y="172847"/>
                  </a:moveTo>
                  <a:cubicBezTo>
                    <a:pt x="0" y="77343"/>
                    <a:pt x="77343" y="0"/>
                    <a:pt x="172847" y="0"/>
                  </a:cubicBezTo>
                  <a:lnTo>
                    <a:pt x="12187047" y="0"/>
                  </a:lnTo>
                  <a:cubicBezTo>
                    <a:pt x="12282551" y="0"/>
                    <a:pt x="12359894" y="77343"/>
                    <a:pt x="12359894" y="172847"/>
                  </a:cubicBezTo>
                  <a:lnTo>
                    <a:pt x="12359894" y="2789682"/>
                  </a:lnTo>
                  <a:cubicBezTo>
                    <a:pt x="12359894" y="2885186"/>
                    <a:pt x="12282551" y="2962529"/>
                    <a:pt x="12187047" y="2962529"/>
                  </a:cubicBezTo>
                  <a:lnTo>
                    <a:pt x="172847" y="2962529"/>
                  </a:lnTo>
                  <a:cubicBezTo>
                    <a:pt x="77343" y="2962529"/>
                    <a:pt x="0" y="2885059"/>
                    <a:pt x="0" y="2789682"/>
                  </a:cubicBezTo>
                  <a:close/>
                </a:path>
              </a:pathLst>
            </a:custGeom>
            <a:solidFill>
              <a:srgbClr val="790709"/>
            </a:solidFill>
          </p:spPr>
        </p:sp>
      </p:grpSp>
      <p:grpSp>
        <p:nvGrpSpPr>
          <p:cNvPr name="Group 14" id="14"/>
          <p:cNvGrpSpPr/>
          <p:nvPr/>
        </p:nvGrpSpPr>
        <p:grpSpPr>
          <a:xfrm rot="0">
            <a:off x="1388564" y="6540103"/>
            <a:ext cx="385762" cy="308515"/>
            <a:chOff x="0" y="0"/>
            <a:chExt cx="514350" cy="411353"/>
          </a:xfrm>
        </p:grpSpPr>
        <p:sp>
          <p:nvSpPr>
            <p:cNvPr name="Freeform 15" id="15" descr="preencoded.png"/>
            <p:cNvSpPr/>
            <p:nvPr/>
          </p:nvSpPr>
          <p:spPr>
            <a:xfrm flipH="false" flipV="false" rot="0">
              <a:off x="0" y="0"/>
              <a:ext cx="514350" cy="411353"/>
            </a:xfrm>
            <a:custGeom>
              <a:avLst/>
              <a:gdLst/>
              <a:ahLst/>
              <a:cxnLst/>
              <a:rect r="r" b="b" t="t" l="l"/>
              <a:pathLst>
                <a:path h="411353" w="514350">
                  <a:moveTo>
                    <a:pt x="0" y="0"/>
                  </a:moveTo>
                  <a:lnTo>
                    <a:pt x="514350" y="0"/>
                  </a:lnTo>
                  <a:lnTo>
                    <a:pt x="514350" y="411353"/>
                  </a:lnTo>
                  <a:lnTo>
                    <a:pt x="0" y="411353"/>
                  </a:lnTo>
                  <a:lnTo>
                    <a:pt x="0" y="0"/>
                  </a:lnTo>
                  <a:close/>
                </a:path>
              </a:pathLst>
            </a:custGeom>
            <a:blipFill>
              <a:blip r:embed="rId7"/>
              <a:stretch>
                <a:fillRect l="0" t="-15" r="0" b="-15"/>
              </a:stretch>
            </a:blipFill>
          </p:spPr>
        </p:sp>
      </p:grpSp>
      <p:sp>
        <p:nvSpPr>
          <p:cNvPr name="TextBox 16" id="16"/>
          <p:cNvSpPr txBox="true"/>
          <p:nvPr/>
        </p:nvSpPr>
        <p:spPr>
          <a:xfrm rot="0">
            <a:off x="2082851" y="6276680"/>
            <a:ext cx="7958585" cy="1690983"/>
          </a:xfrm>
          <a:prstGeom prst="rect">
            <a:avLst/>
          </a:prstGeom>
        </p:spPr>
        <p:txBody>
          <a:bodyPr anchor="t" rtlCol="false" tIns="0" lIns="0" bIns="0" rIns="0">
            <a:spAutoFit/>
          </a:bodyPr>
          <a:lstStyle/>
          <a:p>
            <a:pPr algn="l">
              <a:lnSpc>
                <a:spcPts val="3830"/>
              </a:lnSpc>
            </a:pPr>
            <a:r>
              <a:rPr lang="en-US" sz="2400">
                <a:solidFill>
                  <a:srgbClr val="FFFFFF"/>
                </a:solidFill>
                <a:latin typeface="Barlow"/>
                <a:ea typeface="Barlow"/>
                <a:cs typeface="Barlow"/>
                <a:sym typeface="Barlow"/>
              </a:rPr>
              <a:t>This analysis is based on anonymized national survey data covering victim demographics, employment, education, and marital status.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91718">
                <a:alpha val="81176"/>
              </a:srgbClr>
            </a:solidFill>
          </p:spPr>
        </p:sp>
      </p:grpSp>
      <p:sp>
        <p:nvSpPr>
          <p:cNvPr name="TextBox 6" id="6"/>
          <p:cNvSpPr txBox="true"/>
          <p:nvPr/>
        </p:nvSpPr>
        <p:spPr>
          <a:xfrm rot="0">
            <a:off x="1080049" y="955472"/>
            <a:ext cx="7772400" cy="933450"/>
          </a:xfrm>
          <a:prstGeom prst="rect">
            <a:avLst/>
          </a:prstGeom>
        </p:spPr>
        <p:txBody>
          <a:bodyPr anchor="t" rtlCol="false" tIns="0" lIns="0" bIns="0" rIns="0">
            <a:spAutoFit/>
          </a:bodyPr>
          <a:lstStyle/>
          <a:p>
            <a:pPr algn="l">
              <a:lnSpc>
                <a:spcPts val="6738"/>
              </a:lnSpc>
            </a:pPr>
            <a:r>
              <a:rPr lang="en-US" sz="5400" b="true">
                <a:solidFill>
                  <a:srgbClr val="FFFFFF"/>
                </a:solidFill>
                <a:latin typeface="Barlow Bold"/>
                <a:ea typeface="Barlow Bold"/>
                <a:cs typeface="Barlow Bold"/>
                <a:sym typeface="Barlow Bold"/>
              </a:rPr>
              <a:t>Project Objectives</a:t>
            </a:r>
          </a:p>
        </p:txBody>
      </p:sp>
      <p:sp>
        <p:nvSpPr>
          <p:cNvPr name="Freeform 7" id="7" descr="preencoded.png"/>
          <p:cNvSpPr/>
          <p:nvPr/>
        </p:nvSpPr>
        <p:spPr>
          <a:xfrm flipH="false" flipV="false" rot="0">
            <a:off x="1080049" y="2506113"/>
            <a:ext cx="7909617" cy="3220345"/>
          </a:xfrm>
          <a:custGeom>
            <a:avLst/>
            <a:gdLst/>
            <a:ahLst/>
            <a:cxnLst/>
            <a:rect r="r" b="b" t="t" l="l"/>
            <a:pathLst>
              <a:path h="3220345" w="7909617">
                <a:moveTo>
                  <a:pt x="0" y="0"/>
                </a:moveTo>
                <a:lnTo>
                  <a:pt x="7909617" y="0"/>
                </a:lnTo>
                <a:lnTo>
                  <a:pt x="7909617" y="3220346"/>
                </a:lnTo>
                <a:lnTo>
                  <a:pt x="0" y="3220346"/>
                </a:lnTo>
                <a:lnTo>
                  <a:pt x="0" y="0"/>
                </a:lnTo>
                <a:close/>
              </a:path>
            </a:pathLst>
          </a:custGeom>
          <a:blipFill>
            <a:blip r:embed="rId4">
              <a:extLst>
                <a:ext uri="{96DAC541-7B7A-43D3-8B79-37D633B846F1}">
                  <asvg:svgBlip xmlns:asvg="http://schemas.microsoft.com/office/drawing/2016/SVG/main" r:embed="rId5"/>
                </a:ext>
              </a:extLst>
            </a:blip>
            <a:stretch>
              <a:fillRect l="0" t="-98" r="0" b="-98"/>
            </a:stretch>
          </a:blipFill>
        </p:spPr>
      </p:sp>
      <p:grpSp>
        <p:nvGrpSpPr>
          <p:cNvPr name="Group 8" id="8"/>
          <p:cNvGrpSpPr/>
          <p:nvPr/>
        </p:nvGrpSpPr>
        <p:grpSpPr>
          <a:xfrm rot="0">
            <a:off x="4803429" y="2708224"/>
            <a:ext cx="462858" cy="578644"/>
            <a:chOff x="0" y="0"/>
            <a:chExt cx="617144" cy="771525"/>
          </a:xfrm>
        </p:grpSpPr>
        <p:sp>
          <p:nvSpPr>
            <p:cNvPr name="Freeform 9" id="9"/>
            <p:cNvSpPr/>
            <p:nvPr/>
          </p:nvSpPr>
          <p:spPr>
            <a:xfrm flipH="false" flipV="false" rot="0">
              <a:off x="0" y="0"/>
              <a:ext cx="617093" cy="771525"/>
            </a:xfrm>
            <a:custGeom>
              <a:avLst/>
              <a:gdLst/>
              <a:ahLst/>
              <a:cxnLst/>
              <a:rect r="r" b="b" t="t" l="l"/>
              <a:pathLst>
                <a:path h="771525" w="617093">
                  <a:moveTo>
                    <a:pt x="0" y="0"/>
                  </a:moveTo>
                  <a:lnTo>
                    <a:pt x="617093" y="0"/>
                  </a:lnTo>
                  <a:lnTo>
                    <a:pt x="617093" y="771525"/>
                  </a:lnTo>
                  <a:lnTo>
                    <a:pt x="0" y="771525"/>
                  </a:lnTo>
                  <a:close/>
                </a:path>
              </a:pathLst>
            </a:custGeom>
            <a:blipFill>
              <a:blip r:embed="rId6">
                <a:alphaModFix amt="0"/>
              </a:blip>
              <a:stretch>
                <a:fillRect l="-110520" t="0" r="-110526" b="0"/>
              </a:stretch>
            </a:blipFill>
          </p:spPr>
        </p:sp>
      </p:grpSp>
      <p:grpSp>
        <p:nvGrpSpPr>
          <p:cNvPr name="Group 10" id="10"/>
          <p:cNvGrpSpPr/>
          <p:nvPr/>
        </p:nvGrpSpPr>
        <p:grpSpPr>
          <a:xfrm rot="0">
            <a:off x="4803429" y="2708224"/>
            <a:ext cx="462858" cy="578644"/>
            <a:chOff x="0" y="0"/>
            <a:chExt cx="617144" cy="771525"/>
          </a:xfrm>
        </p:grpSpPr>
        <p:sp>
          <p:nvSpPr>
            <p:cNvPr name="Freeform 11" id="11"/>
            <p:cNvSpPr/>
            <p:nvPr/>
          </p:nvSpPr>
          <p:spPr>
            <a:xfrm flipH="false" flipV="false" rot="0">
              <a:off x="0" y="0"/>
              <a:ext cx="617144" cy="771525"/>
            </a:xfrm>
            <a:custGeom>
              <a:avLst/>
              <a:gdLst/>
              <a:ahLst/>
              <a:cxnLst/>
              <a:rect r="r" b="b" t="t" l="l"/>
              <a:pathLst>
                <a:path h="771525" w="617144">
                  <a:moveTo>
                    <a:pt x="0" y="0"/>
                  </a:moveTo>
                  <a:lnTo>
                    <a:pt x="617144" y="0"/>
                  </a:lnTo>
                  <a:lnTo>
                    <a:pt x="617144" y="771525"/>
                  </a:lnTo>
                  <a:lnTo>
                    <a:pt x="0" y="771525"/>
                  </a:lnTo>
                  <a:close/>
                </a:path>
              </a:pathLst>
            </a:custGeom>
            <a:blipFill>
              <a:blip r:embed="rId7">
                <a:alphaModFix amt="0"/>
              </a:blip>
              <a:stretch>
                <a:fillRect l="-110399" t="0" r="-110399" b="0"/>
              </a:stretch>
            </a:blipFill>
          </p:spPr>
        </p:sp>
        <p:sp>
          <p:nvSpPr>
            <p:cNvPr name="TextBox 12" id="12"/>
            <p:cNvSpPr txBox="true"/>
            <p:nvPr/>
          </p:nvSpPr>
          <p:spPr>
            <a:xfrm>
              <a:off x="0" y="0"/>
              <a:ext cx="617144" cy="771525"/>
            </a:xfrm>
            <a:prstGeom prst="rect">
              <a:avLst/>
            </a:prstGeom>
          </p:spPr>
          <p:txBody>
            <a:bodyPr anchor="ctr" rtlCol="false" tIns="0" lIns="0" bIns="0" rIns="0"/>
            <a:lstStyle/>
            <a:p>
              <a:pPr algn="ctr">
                <a:lnSpc>
                  <a:spcPts val="4320"/>
                </a:lnSpc>
              </a:pPr>
              <a:r>
                <a:rPr lang="en-US" sz="3600" b="true">
                  <a:solidFill>
                    <a:srgbClr val="E5E0DF"/>
                  </a:solidFill>
                  <a:latin typeface="Barlow Bold"/>
                  <a:ea typeface="Barlow Bold"/>
                  <a:cs typeface="Barlow Bold"/>
                  <a:sym typeface="Barlow Bold"/>
                </a:rPr>
                <a:t>1</a:t>
              </a:r>
            </a:p>
          </p:txBody>
        </p:sp>
      </p:grpSp>
      <p:sp>
        <p:nvSpPr>
          <p:cNvPr name="TextBox 13" id="13"/>
          <p:cNvSpPr txBox="true"/>
          <p:nvPr/>
        </p:nvSpPr>
        <p:spPr>
          <a:xfrm rot="0">
            <a:off x="1426664" y="3740344"/>
            <a:ext cx="3429000" cy="466725"/>
          </a:xfrm>
          <a:prstGeom prst="rect">
            <a:avLst/>
          </a:prstGeom>
        </p:spPr>
        <p:txBody>
          <a:bodyPr anchor="t" rtlCol="false" tIns="0" lIns="0" bIns="0" rIns="0">
            <a:spAutoFit/>
          </a:bodyPr>
          <a:lstStyle/>
          <a:p>
            <a:pPr algn="l">
              <a:lnSpc>
                <a:spcPts val="3369"/>
              </a:lnSpc>
            </a:pPr>
            <a:r>
              <a:rPr lang="en-US" sz="2700" b="true">
                <a:solidFill>
                  <a:srgbClr val="E5E0DF"/>
                </a:solidFill>
                <a:latin typeface="Barlow Bold"/>
                <a:ea typeface="Barlow Bold"/>
                <a:cs typeface="Barlow Bold"/>
                <a:sym typeface="Barlow Bold"/>
              </a:rPr>
              <a:t>Quantify the Scope</a:t>
            </a:r>
          </a:p>
        </p:txBody>
      </p:sp>
      <p:sp>
        <p:nvSpPr>
          <p:cNvPr name="TextBox 14" id="14"/>
          <p:cNvSpPr txBox="true"/>
          <p:nvPr/>
        </p:nvSpPr>
        <p:spPr>
          <a:xfrm rot="0">
            <a:off x="1426664" y="4182666"/>
            <a:ext cx="7216378" cy="1197178"/>
          </a:xfrm>
          <a:prstGeom prst="rect">
            <a:avLst/>
          </a:prstGeom>
        </p:spPr>
        <p:txBody>
          <a:bodyPr anchor="t" rtlCol="false" tIns="0" lIns="0" bIns="0" rIns="0">
            <a:spAutoFit/>
          </a:bodyPr>
          <a:lstStyle/>
          <a:p>
            <a:pPr algn="l">
              <a:lnSpc>
                <a:spcPts val="3830"/>
              </a:lnSpc>
            </a:pPr>
            <a:r>
              <a:rPr lang="en-US" sz="2400">
                <a:solidFill>
                  <a:srgbClr val="E5E0DF"/>
                </a:solidFill>
                <a:latin typeface="Barlow"/>
                <a:ea typeface="Barlow"/>
                <a:cs typeface="Barlow"/>
                <a:sym typeface="Barlow"/>
              </a:rPr>
              <a:t>Measure total reported domestic violence cases across demographic segments.</a:t>
            </a:r>
          </a:p>
        </p:txBody>
      </p:sp>
      <p:sp>
        <p:nvSpPr>
          <p:cNvPr name="Freeform 15" id="15" descr="preencoded.png"/>
          <p:cNvSpPr/>
          <p:nvPr/>
        </p:nvSpPr>
        <p:spPr>
          <a:xfrm flipH="false" flipV="false" rot="0">
            <a:off x="9298191" y="2506113"/>
            <a:ext cx="7909770" cy="3220345"/>
          </a:xfrm>
          <a:custGeom>
            <a:avLst/>
            <a:gdLst/>
            <a:ahLst/>
            <a:cxnLst/>
            <a:rect r="r" b="b" t="t" l="l"/>
            <a:pathLst>
              <a:path h="3220345" w="7909770">
                <a:moveTo>
                  <a:pt x="0" y="0"/>
                </a:moveTo>
                <a:lnTo>
                  <a:pt x="7909769" y="0"/>
                </a:lnTo>
                <a:lnTo>
                  <a:pt x="7909769" y="3220346"/>
                </a:lnTo>
                <a:lnTo>
                  <a:pt x="0" y="3220346"/>
                </a:lnTo>
                <a:lnTo>
                  <a:pt x="0" y="0"/>
                </a:lnTo>
                <a:close/>
              </a:path>
            </a:pathLst>
          </a:custGeom>
          <a:blipFill>
            <a:blip r:embed="rId4">
              <a:extLst>
                <a:ext uri="{96DAC541-7B7A-43D3-8B79-37D633B846F1}">
                  <asvg:svgBlip xmlns:asvg="http://schemas.microsoft.com/office/drawing/2016/SVG/main" r:embed="rId5"/>
                </a:ext>
              </a:extLst>
            </a:blip>
            <a:stretch>
              <a:fillRect l="0" t="-99" r="0" b="-99"/>
            </a:stretch>
          </a:blipFill>
        </p:spPr>
      </p:sp>
      <p:grpSp>
        <p:nvGrpSpPr>
          <p:cNvPr name="Group 16" id="16"/>
          <p:cNvGrpSpPr/>
          <p:nvPr/>
        </p:nvGrpSpPr>
        <p:grpSpPr>
          <a:xfrm rot="0">
            <a:off x="13021570" y="2708224"/>
            <a:ext cx="462858" cy="578644"/>
            <a:chOff x="0" y="0"/>
            <a:chExt cx="617144" cy="771525"/>
          </a:xfrm>
        </p:grpSpPr>
        <p:sp>
          <p:nvSpPr>
            <p:cNvPr name="Freeform 17" id="17"/>
            <p:cNvSpPr/>
            <p:nvPr/>
          </p:nvSpPr>
          <p:spPr>
            <a:xfrm flipH="false" flipV="false" rot="0">
              <a:off x="0" y="0"/>
              <a:ext cx="617093" cy="771525"/>
            </a:xfrm>
            <a:custGeom>
              <a:avLst/>
              <a:gdLst/>
              <a:ahLst/>
              <a:cxnLst/>
              <a:rect r="r" b="b" t="t" l="l"/>
              <a:pathLst>
                <a:path h="771525" w="617093">
                  <a:moveTo>
                    <a:pt x="0" y="0"/>
                  </a:moveTo>
                  <a:lnTo>
                    <a:pt x="617093" y="0"/>
                  </a:lnTo>
                  <a:lnTo>
                    <a:pt x="617093" y="771525"/>
                  </a:lnTo>
                  <a:lnTo>
                    <a:pt x="0" y="771525"/>
                  </a:lnTo>
                  <a:close/>
                </a:path>
              </a:pathLst>
            </a:custGeom>
            <a:blipFill>
              <a:blip r:embed="rId6">
                <a:alphaModFix amt="0"/>
              </a:blip>
              <a:stretch>
                <a:fillRect l="-110520" t="0" r="-110526" b="0"/>
              </a:stretch>
            </a:blipFill>
          </p:spPr>
        </p:sp>
      </p:grpSp>
      <p:grpSp>
        <p:nvGrpSpPr>
          <p:cNvPr name="Group 18" id="18"/>
          <p:cNvGrpSpPr/>
          <p:nvPr/>
        </p:nvGrpSpPr>
        <p:grpSpPr>
          <a:xfrm rot="0">
            <a:off x="13021570" y="2708224"/>
            <a:ext cx="462858" cy="578644"/>
            <a:chOff x="0" y="0"/>
            <a:chExt cx="617144" cy="771525"/>
          </a:xfrm>
        </p:grpSpPr>
        <p:sp>
          <p:nvSpPr>
            <p:cNvPr name="Freeform 19" id="19"/>
            <p:cNvSpPr/>
            <p:nvPr/>
          </p:nvSpPr>
          <p:spPr>
            <a:xfrm flipH="false" flipV="false" rot="0">
              <a:off x="0" y="0"/>
              <a:ext cx="617144" cy="771525"/>
            </a:xfrm>
            <a:custGeom>
              <a:avLst/>
              <a:gdLst/>
              <a:ahLst/>
              <a:cxnLst/>
              <a:rect r="r" b="b" t="t" l="l"/>
              <a:pathLst>
                <a:path h="771525" w="617144">
                  <a:moveTo>
                    <a:pt x="0" y="0"/>
                  </a:moveTo>
                  <a:lnTo>
                    <a:pt x="617144" y="0"/>
                  </a:lnTo>
                  <a:lnTo>
                    <a:pt x="617144" y="771525"/>
                  </a:lnTo>
                  <a:lnTo>
                    <a:pt x="0" y="771525"/>
                  </a:lnTo>
                  <a:close/>
                </a:path>
              </a:pathLst>
            </a:custGeom>
            <a:blipFill>
              <a:blip r:embed="rId7">
                <a:alphaModFix amt="0"/>
              </a:blip>
              <a:stretch>
                <a:fillRect l="-110399" t="0" r="-110399" b="0"/>
              </a:stretch>
            </a:blipFill>
          </p:spPr>
        </p:sp>
        <p:sp>
          <p:nvSpPr>
            <p:cNvPr name="TextBox 20" id="20"/>
            <p:cNvSpPr txBox="true"/>
            <p:nvPr/>
          </p:nvSpPr>
          <p:spPr>
            <a:xfrm>
              <a:off x="0" y="0"/>
              <a:ext cx="617144" cy="771525"/>
            </a:xfrm>
            <a:prstGeom prst="rect">
              <a:avLst/>
            </a:prstGeom>
          </p:spPr>
          <p:txBody>
            <a:bodyPr anchor="ctr" rtlCol="false" tIns="0" lIns="0" bIns="0" rIns="0"/>
            <a:lstStyle/>
            <a:p>
              <a:pPr algn="ctr">
                <a:lnSpc>
                  <a:spcPts val="4320"/>
                </a:lnSpc>
              </a:pPr>
              <a:r>
                <a:rPr lang="en-US" sz="3600" b="true">
                  <a:solidFill>
                    <a:srgbClr val="E5E0DF"/>
                  </a:solidFill>
                  <a:latin typeface="Barlow Bold"/>
                  <a:ea typeface="Barlow Bold"/>
                  <a:cs typeface="Barlow Bold"/>
                  <a:sym typeface="Barlow Bold"/>
                </a:rPr>
                <a:t>2</a:t>
              </a:r>
            </a:p>
          </p:txBody>
        </p:sp>
      </p:grpSp>
      <p:sp>
        <p:nvSpPr>
          <p:cNvPr name="TextBox 21" id="21"/>
          <p:cNvSpPr txBox="true"/>
          <p:nvPr/>
        </p:nvSpPr>
        <p:spPr>
          <a:xfrm rot="0">
            <a:off x="9644805" y="3740344"/>
            <a:ext cx="3948265" cy="466725"/>
          </a:xfrm>
          <a:prstGeom prst="rect">
            <a:avLst/>
          </a:prstGeom>
        </p:spPr>
        <p:txBody>
          <a:bodyPr anchor="t" rtlCol="false" tIns="0" lIns="0" bIns="0" rIns="0">
            <a:spAutoFit/>
          </a:bodyPr>
          <a:lstStyle/>
          <a:p>
            <a:pPr algn="l">
              <a:lnSpc>
                <a:spcPts val="3369"/>
              </a:lnSpc>
            </a:pPr>
            <a:r>
              <a:rPr lang="en-US" sz="2700" b="true">
                <a:solidFill>
                  <a:srgbClr val="E5E0DF"/>
                </a:solidFill>
                <a:latin typeface="Barlow Bold"/>
                <a:ea typeface="Barlow Bold"/>
                <a:cs typeface="Barlow Bold"/>
                <a:sym typeface="Barlow Bold"/>
              </a:rPr>
              <a:t>Identify Vulnerable Groups</a:t>
            </a:r>
          </a:p>
        </p:txBody>
      </p:sp>
      <p:sp>
        <p:nvSpPr>
          <p:cNvPr name="TextBox 22" id="22"/>
          <p:cNvSpPr txBox="true"/>
          <p:nvPr/>
        </p:nvSpPr>
        <p:spPr>
          <a:xfrm rot="0">
            <a:off x="9644805" y="4182666"/>
            <a:ext cx="7216531" cy="1197178"/>
          </a:xfrm>
          <a:prstGeom prst="rect">
            <a:avLst/>
          </a:prstGeom>
        </p:spPr>
        <p:txBody>
          <a:bodyPr anchor="t" rtlCol="false" tIns="0" lIns="0" bIns="0" rIns="0">
            <a:spAutoFit/>
          </a:bodyPr>
          <a:lstStyle/>
          <a:p>
            <a:pPr algn="l">
              <a:lnSpc>
                <a:spcPts val="3830"/>
              </a:lnSpc>
            </a:pPr>
            <a:r>
              <a:rPr lang="en-US" sz="2400">
                <a:solidFill>
                  <a:srgbClr val="E5E0DF"/>
                </a:solidFill>
                <a:latin typeface="Barlow"/>
                <a:ea typeface="Barlow"/>
                <a:cs typeface="Barlow"/>
                <a:sym typeface="Barlow"/>
              </a:rPr>
              <a:t>Determine which age groups, employment statuses, and education levels are most affected.</a:t>
            </a:r>
          </a:p>
        </p:txBody>
      </p:sp>
      <p:sp>
        <p:nvSpPr>
          <p:cNvPr name="Freeform 23" id="23" descr="preencoded.png"/>
          <p:cNvSpPr/>
          <p:nvPr/>
        </p:nvSpPr>
        <p:spPr>
          <a:xfrm flipH="false" flipV="false" rot="0">
            <a:off x="1080049" y="6034983"/>
            <a:ext cx="7909617" cy="3220345"/>
          </a:xfrm>
          <a:custGeom>
            <a:avLst/>
            <a:gdLst/>
            <a:ahLst/>
            <a:cxnLst/>
            <a:rect r="r" b="b" t="t" l="l"/>
            <a:pathLst>
              <a:path h="3220345" w="7909617">
                <a:moveTo>
                  <a:pt x="0" y="0"/>
                </a:moveTo>
                <a:lnTo>
                  <a:pt x="7909617" y="0"/>
                </a:lnTo>
                <a:lnTo>
                  <a:pt x="7909617" y="3220345"/>
                </a:lnTo>
                <a:lnTo>
                  <a:pt x="0" y="3220345"/>
                </a:lnTo>
                <a:lnTo>
                  <a:pt x="0" y="0"/>
                </a:lnTo>
                <a:close/>
              </a:path>
            </a:pathLst>
          </a:custGeom>
          <a:blipFill>
            <a:blip r:embed="rId4">
              <a:extLst>
                <a:ext uri="{96DAC541-7B7A-43D3-8B79-37D633B846F1}">
                  <asvg:svgBlip xmlns:asvg="http://schemas.microsoft.com/office/drawing/2016/SVG/main" r:embed="rId5"/>
                </a:ext>
              </a:extLst>
            </a:blip>
            <a:stretch>
              <a:fillRect l="0" t="-98" r="0" b="-98"/>
            </a:stretch>
          </a:blipFill>
        </p:spPr>
      </p:sp>
      <p:grpSp>
        <p:nvGrpSpPr>
          <p:cNvPr name="Group 24" id="24"/>
          <p:cNvGrpSpPr/>
          <p:nvPr/>
        </p:nvGrpSpPr>
        <p:grpSpPr>
          <a:xfrm rot="0">
            <a:off x="4803429" y="6237094"/>
            <a:ext cx="462858" cy="578644"/>
            <a:chOff x="0" y="0"/>
            <a:chExt cx="617144" cy="771525"/>
          </a:xfrm>
        </p:grpSpPr>
        <p:sp>
          <p:nvSpPr>
            <p:cNvPr name="Freeform 25" id="25"/>
            <p:cNvSpPr/>
            <p:nvPr/>
          </p:nvSpPr>
          <p:spPr>
            <a:xfrm flipH="false" flipV="false" rot="0">
              <a:off x="0" y="0"/>
              <a:ext cx="617093" cy="771525"/>
            </a:xfrm>
            <a:custGeom>
              <a:avLst/>
              <a:gdLst/>
              <a:ahLst/>
              <a:cxnLst/>
              <a:rect r="r" b="b" t="t" l="l"/>
              <a:pathLst>
                <a:path h="771525" w="617093">
                  <a:moveTo>
                    <a:pt x="0" y="0"/>
                  </a:moveTo>
                  <a:lnTo>
                    <a:pt x="617093" y="0"/>
                  </a:lnTo>
                  <a:lnTo>
                    <a:pt x="617093" y="771525"/>
                  </a:lnTo>
                  <a:lnTo>
                    <a:pt x="0" y="771525"/>
                  </a:lnTo>
                  <a:close/>
                </a:path>
              </a:pathLst>
            </a:custGeom>
            <a:blipFill>
              <a:blip r:embed="rId6">
                <a:alphaModFix amt="0"/>
              </a:blip>
              <a:stretch>
                <a:fillRect l="-110520" t="0" r="-110526" b="0"/>
              </a:stretch>
            </a:blipFill>
          </p:spPr>
        </p:sp>
      </p:grpSp>
      <p:grpSp>
        <p:nvGrpSpPr>
          <p:cNvPr name="Group 26" id="26"/>
          <p:cNvGrpSpPr/>
          <p:nvPr/>
        </p:nvGrpSpPr>
        <p:grpSpPr>
          <a:xfrm rot="0">
            <a:off x="4803429" y="6237094"/>
            <a:ext cx="462858" cy="578644"/>
            <a:chOff x="0" y="0"/>
            <a:chExt cx="617144" cy="771525"/>
          </a:xfrm>
        </p:grpSpPr>
        <p:sp>
          <p:nvSpPr>
            <p:cNvPr name="Freeform 27" id="27"/>
            <p:cNvSpPr/>
            <p:nvPr/>
          </p:nvSpPr>
          <p:spPr>
            <a:xfrm flipH="false" flipV="false" rot="0">
              <a:off x="0" y="0"/>
              <a:ext cx="617144" cy="771525"/>
            </a:xfrm>
            <a:custGeom>
              <a:avLst/>
              <a:gdLst/>
              <a:ahLst/>
              <a:cxnLst/>
              <a:rect r="r" b="b" t="t" l="l"/>
              <a:pathLst>
                <a:path h="771525" w="617144">
                  <a:moveTo>
                    <a:pt x="0" y="0"/>
                  </a:moveTo>
                  <a:lnTo>
                    <a:pt x="617144" y="0"/>
                  </a:lnTo>
                  <a:lnTo>
                    <a:pt x="617144" y="771525"/>
                  </a:lnTo>
                  <a:lnTo>
                    <a:pt x="0" y="771525"/>
                  </a:lnTo>
                  <a:close/>
                </a:path>
              </a:pathLst>
            </a:custGeom>
            <a:blipFill>
              <a:blip r:embed="rId7">
                <a:alphaModFix amt="0"/>
              </a:blip>
              <a:stretch>
                <a:fillRect l="-110399" t="0" r="-110399" b="0"/>
              </a:stretch>
            </a:blipFill>
          </p:spPr>
        </p:sp>
        <p:sp>
          <p:nvSpPr>
            <p:cNvPr name="TextBox 28" id="28"/>
            <p:cNvSpPr txBox="true"/>
            <p:nvPr/>
          </p:nvSpPr>
          <p:spPr>
            <a:xfrm>
              <a:off x="0" y="0"/>
              <a:ext cx="617144" cy="771525"/>
            </a:xfrm>
            <a:prstGeom prst="rect">
              <a:avLst/>
            </a:prstGeom>
          </p:spPr>
          <p:txBody>
            <a:bodyPr anchor="ctr" rtlCol="false" tIns="0" lIns="0" bIns="0" rIns="0"/>
            <a:lstStyle/>
            <a:p>
              <a:pPr algn="ctr">
                <a:lnSpc>
                  <a:spcPts val="4320"/>
                </a:lnSpc>
              </a:pPr>
              <a:r>
                <a:rPr lang="en-US" sz="3600" b="true">
                  <a:solidFill>
                    <a:srgbClr val="E5E0DF"/>
                  </a:solidFill>
                  <a:latin typeface="Barlow Bold"/>
                  <a:ea typeface="Barlow Bold"/>
                  <a:cs typeface="Barlow Bold"/>
                  <a:sym typeface="Barlow Bold"/>
                </a:rPr>
                <a:t>3</a:t>
              </a:r>
            </a:p>
          </p:txBody>
        </p:sp>
      </p:grpSp>
      <p:sp>
        <p:nvSpPr>
          <p:cNvPr name="TextBox 29" id="29"/>
          <p:cNvSpPr txBox="true"/>
          <p:nvPr/>
        </p:nvSpPr>
        <p:spPr>
          <a:xfrm rot="0">
            <a:off x="1426664" y="7269213"/>
            <a:ext cx="3429000" cy="466725"/>
          </a:xfrm>
          <a:prstGeom prst="rect">
            <a:avLst/>
          </a:prstGeom>
        </p:spPr>
        <p:txBody>
          <a:bodyPr anchor="t" rtlCol="false" tIns="0" lIns="0" bIns="0" rIns="0">
            <a:spAutoFit/>
          </a:bodyPr>
          <a:lstStyle/>
          <a:p>
            <a:pPr algn="l">
              <a:lnSpc>
                <a:spcPts val="3369"/>
              </a:lnSpc>
            </a:pPr>
            <a:r>
              <a:rPr lang="en-US" sz="2700" b="true">
                <a:solidFill>
                  <a:srgbClr val="E5E0DF"/>
                </a:solidFill>
                <a:latin typeface="Barlow Bold"/>
                <a:ea typeface="Barlow Bold"/>
                <a:cs typeface="Barlow Bold"/>
                <a:sym typeface="Barlow Bold"/>
              </a:rPr>
              <a:t>Visualize Risk Factors</a:t>
            </a:r>
          </a:p>
        </p:txBody>
      </p:sp>
      <p:sp>
        <p:nvSpPr>
          <p:cNvPr name="TextBox 30" id="30"/>
          <p:cNvSpPr txBox="true"/>
          <p:nvPr/>
        </p:nvSpPr>
        <p:spPr>
          <a:xfrm rot="0">
            <a:off x="1426664" y="7711526"/>
            <a:ext cx="7216378" cy="1197178"/>
          </a:xfrm>
          <a:prstGeom prst="rect">
            <a:avLst/>
          </a:prstGeom>
        </p:spPr>
        <p:txBody>
          <a:bodyPr anchor="t" rtlCol="false" tIns="0" lIns="0" bIns="0" rIns="0">
            <a:spAutoFit/>
          </a:bodyPr>
          <a:lstStyle/>
          <a:p>
            <a:pPr algn="l">
              <a:lnSpc>
                <a:spcPts val="3830"/>
              </a:lnSpc>
            </a:pPr>
            <a:r>
              <a:rPr lang="en-US" sz="2400">
                <a:solidFill>
                  <a:srgbClr val="E5E0DF"/>
                </a:solidFill>
                <a:latin typeface="Barlow"/>
                <a:ea typeface="Barlow"/>
                <a:cs typeface="Barlow"/>
                <a:sym typeface="Barlow"/>
              </a:rPr>
              <a:t>Use Power BI dashboards to reveal correlations between marital status, income, and violence rates.</a:t>
            </a:r>
          </a:p>
        </p:txBody>
      </p:sp>
      <p:sp>
        <p:nvSpPr>
          <p:cNvPr name="Freeform 31" id="31" descr="preencoded.png"/>
          <p:cNvSpPr/>
          <p:nvPr/>
        </p:nvSpPr>
        <p:spPr>
          <a:xfrm flipH="false" flipV="false" rot="0">
            <a:off x="9298191" y="6034983"/>
            <a:ext cx="7909770" cy="3220345"/>
          </a:xfrm>
          <a:custGeom>
            <a:avLst/>
            <a:gdLst/>
            <a:ahLst/>
            <a:cxnLst/>
            <a:rect r="r" b="b" t="t" l="l"/>
            <a:pathLst>
              <a:path h="3220345" w="7909770">
                <a:moveTo>
                  <a:pt x="0" y="0"/>
                </a:moveTo>
                <a:lnTo>
                  <a:pt x="7909769" y="0"/>
                </a:lnTo>
                <a:lnTo>
                  <a:pt x="7909769" y="3220345"/>
                </a:lnTo>
                <a:lnTo>
                  <a:pt x="0" y="3220345"/>
                </a:lnTo>
                <a:lnTo>
                  <a:pt x="0" y="0"/>
                </a:lnTo>
                <a:close/>
              </a:path>
            </a:pathLst>
          </a:custGeom>
          <a:blipFill>
            <a:blip r:embed="rId4">
              <a:extLst>
                <a:ext uri="{96DAC541-7B7A-43D3-8B79-37D633B846F1}">
                  <asvg:svgBlip xmlns:asvg="http://schemas.microsoft.com/office/drawing/2016/SVG/main" r:embed="rId5"/>
                </a:ext>
              </a:extLst>
            </a:blip>
            <a:stretch>
              <a:fillRect l="0" t="-99" r="0" b="-99"/>
            </a:stretch>
          </a:blipFill>
        </p:spPr>
      </p:sp>
      <p:grpSp>
        <p:nvGrpSpPr>
          <p:cNvPr name="Group 32" id="32"/>
          <p:cNvGrpSpPr/>
          <p:nvPr/>
        </p:nvGrpSpPr>
        <p:grpSpPr>
          <a:xfrm rot="0">
            <a:off x="13021570" y="6237094"/>
            <a:ext cx="462858" cy="578644"/>
            <a:chOff x="0" y="0"/>
            <a:chExt cx="617144" cy="771525"/>
          </a:xfrm>
        </p:grpSpPr>
        <p:sp>
          <p:nvSpPr>
            <p:cNvPr name="Freeform 33" id="33"/>
            <p:cNvSpPr/>
            <p:nvPr/>
          </p:nvSpPr>
          <p:spPr>
            <a:xfrm flipH="false" flipV="false" rot="0">
              <a:off x="0" y="0"/>
              <a:ext cx="617093" cy="771525"/>
            </a:xfrm>
            <a:custGeom>
              <a:avLst/>
              <a:gdLst/>
              <a:ahLst/>
              <a:cxnLst/>
              <a:rect r="r" b="b" t="t" l="l"/>
              <a:pathLst>
                <a:path h="771525" w="617093">
                  <a:moveTo>
                    <a:pt x="0" y="0"/>
                  </a:moveTo>
                  <a:lnTo>
                    <a:pt x="617093" y="0"/>
                  </a:lnTo>
                  <a:lnTo>
                    <a:pt x="617093" y="771525"/>
                  </a:lnTo>
                  <a:lnTo>
                    <a:pt x="0" y="771525"/>
                  </a:lnTo>
                  <a:close/>
                </a:path>
              </a:pathLst>
            </a:custGeom>
            <a:blipFill>
              <a:blip r:embed="rId6">
                <a:alphaModFix amt="0"/>
              </a:blip>
              <a:stretch>
                <a:fillRect l="-110520" t="0" r="-110526" b="0"/>
              </a:stretch>
            </a:blipFill>
          </p:spPr>
        </p:sp>
      </p:grpSp>
      <p:grpSp>
        <p:nvGrpSpPr>
          <p:cNvPr name="Group 34" id="34"/>
          <p:cNvGrpSpPr/>
          <p:nvPr/>
        </p:nvGrpSpPr>
        <p:grpSpPr>
          <a:xfrm rot="0">
            <a:off x="13021570" y="6237094"/>
            <a:ext cx="462858" cy="578644"/>
            <a:chOff x="0" y="0"/>
            <a:chExt cx="617144" cy="771525"/>
          </a:xfrm>
        </p:grpSpPr>
        <p:sp>
          <p:nvSpPr>
            <p:cNvPr name="Freeform 35" id="35"/>
            <p:cNvSpPr/>
            <p:nvPr/>
          </p:nvSpPr>
          <p:spPr>
            <a:xfrm flipH="false" flipV="false" rot="0">
              <a:off x="0" y="0"/>
              <a:ext cx="617144" cy="771525"/>
            </a:xfrm>
            <a:custGeom>
              <a:avLst/>
              <a:gdLst/>
              <a:ahLst/>
              <a:cxnLst/>
              <a:rect r="r" b="b" t="t" l="l"/>
              <a:pathLst>
                <a:path h="771525" w="617144">
                  <a:moveTo>
                    <a:pt x="0" y="0"/>
                  </a:moveTo>
                  <a:lnTo>
                    <a:pt x="617144" y="0"/>
                  </a:lnTo>
                  <a:lnTo>
                    <a:pt x="617144" y="771525"/>
                  </a:lnTo>
                  <a:lnTo>
                    <a:pt x="0" y="771525"/>
                  </a:lnTo>
                  <a:close/>
                </a:path>
              </a:pathLst>
            </a:custGeom>
            <a:blipFill>
              <a:blip r:embed="rId7">
                <a:alphaModFix amt="0"/>
              </a:blip>
              <a:stretch>
                <a:fillRect l="-110399" t="0" r="-110399" b="0"/>
              </a:stretch>
            </a:blipFill>
          </p:spPr>
        </p:sp>
        <p:sp>
          <p:nvSpPr>
            <p:cNvPr name="TextBox 36" id="36"/>
            <p:cNvSpPr txBox="true"/>
            <p:nvPr/>
          </p:nvSpPr>
          <p:spPr>
            <a:xfrm>
              <a:off x="0" y="0"/>
              <a:ext cx="617144" cy="771525"/>
            </a:xfrm>
            <a:prstGeom prst="rect">
              <a:avLst/>
            </a:prstGeom>
          </p:spPr>
          <p:txBody>
            <a:bodyPr anchor="ctr" rtlCol="false" tIns="0" lIns="0" bIns="0" rIns="0"/>
            <a:lstStyle/>
            <a:p>
              <a:pPr algn="ctr">
                <a:lnSpc>
                  <a:spcPts val="4320"/>
                </a:lnSpc>
              </a:pPr>
              <a:r>
                <a:rPr lang="en-US" sz="3600" b="true">
                  <a:solidFill>
                    <a:srgbClr val="E5E0DF"/>
                  </a:solidFill>
                  <a:latin typeface="Barlow Bold"/>
                  <a:ea typeface="Barlow Bold"/>
                  <a:cs typeface="Barlow Bold"/>
                  <a:sym typeface="Barlow Bold"/>
                </a:rPr>
                <a:t>4</a:t>
              </a:r>
            </a:p>
          </p:txBody>
        </p:sp>
      </p:grpSp>
      <p:sp>
        <p:nvSpPr>
          <p:cNvPr name="TextBox 37" id="37"/>
          <p:cNvSpPr txBox="true"/>
          <p:nvPr/>
        </p:nvSpPr>
        <p:spPr>
          <a:xfrm rot="0">
            <a:off x="9644805" y="7269213"/>
            <a:ext cx="3769966" cy="466725"/>
          </a:xfrm>
          <a:prstGeom prst="rect">
            <a:avLst/>
          </a:prstGeom>
        </p:spPr>
        <p:txBody>
          <a:bodyPr anchor="t" rtlCol="false" tIns="0" lIns="0" bIns="0" rIns="0">
            <a:spAutoFit/>
          </a:bodyPr>
          <a:lstStyle/>
          <a:p>
            <a:pPr algn="l">
              <a:lnSpc>
                <a:spcPts val="3369"/>
              </a:lnSpc>
            </a:pPr>
            <a:r>
              <a:rPr lang="en-US" sz="2700" b="true">
                <a:solidFill>
                  <a:srgbClr val="E5E0DF"/>
                </a:solidFill>
                <a:latin typeface="Barlow Bold"/>
                <a:ea typeface="Barlow Bold"/>
                <a:cs typeface="Barlow Bold"/>
                <a:sym typeface="Barlow Bold"/>
              </a:rPr>
              <a:t>Support Decision-Making</a:t>
            </a:r>
          </a:p>
        </p:txBody>
      </p:sp>
      <p:sp>
        <p:nvSpPr>
          <p:cNvPr name="TextBox 38" id="38"/>
          <p:cNvSpPr txBox="true"/>
          <p:nvPr/>
        </p:nvSpPr>
        <p:spPr>
          <a:xfrm rot="0">
            <a:off x="9644805" y="7711526"/>
            <a:ext cx="7216531" cy="1197178"/>
          </a:xfrm>
          <a:prstGeom prst="rect">
            <a:avLst/>
          </a:prstGeom>
        </p:spPr>
        <p:txBody>
          <a:bodyPr anchor="t" rtlCol="false" tIns="0" lIns="0" bIns="0" rIns="0">
            <a:spAutoFit/>
          </a:bodyPr>
          <a:lstStyle/>
          <a:p>
            <a:pPr algn="l">
              <a:lnSpc>
                <a:spcPts val="3830"/>
              </a:lnSpc>
            </a:pPr>
            <a:r>
              <a:rPr lang="en-US" sz="2400">
                <a:solidFill>
                  <a:srgbClr val="E5E0DF"/>
                </a:solidFill>
                <a:latin typeface="Barlow"/>
                <a:ea typeface="Barlow"/>
                <a:cs typeface="Barlow"/>
                <a:sym typeface="Barlow"/>
              </a:rPr>
              <a:t>Provide data-driven recommendations for social programs and policy interventions.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91718">
                <a:alpha val="81176"/>
              </a:srgbClr>
            </a:solidFill>
          </p:spPr>
        </p:sp>
      </p:grpSp>
      <p:grpSp>
        <p:nvGrpSpPr>
          <p:cNvPr name="Group 6" id="6"/>
          <p:cNvGrpSpPr/>
          <p:nvPr/>
        </p:nvGrpSpPr>
        <p:grpSpPr>
          <a:xfrm rot="0">
            <a:off x="1080049" y="1014260"/>
            <a:ext cx="10326624" cy="5851588"/>
            <a:chOff x="0" y="0"/>
            <a:chExt cx="13768832" cy="7802118"/>
          </a:xfrm>
        </p:grpSpPr>
        <p:sp>
          <p:nvSpPr>
            <p:cNvPr name="Freeform 7" id="7" descr="preencoded.png"/>
            <p:cNvSpPr/>
            <p:nvPr/>
          </p:nvSpPr>
          <p:spPr>
            <a:xfrm flipH="false" flipV="false" rot="0">
              <a:off x="0" y="0"/>
              <a:ext cx="13768832" cy="7802118"/>
            </a:xfrm>
            <a:custGeom>
              <a:avLst/>
              <a:gdLst/>
              <a:ahLst/>
              <a:cxnLst/>
              <a:rect r="r" b="b" t="t" l="l"/>
              <a:pathLst>
                <a:path h="7802118" w="13768832">
                  <a:moveTo>
                    <a:pt x="0" y="0"/>
                  </a:moveTo>
                  <a:lnTo>
                    <a:pt x="13768832" y="0"/>
                  </a:lnTo>
                  <a:lnTo>
                    <a:pt x="13768832" y="7802118"/>
                  </a:lnTo>
                  <a:lnTo>
                    <a:pt x="0" y="7802118"/>
                  </a:lnTo>
                  <a:lnTo>
                    <a:pt x="0" y="0"/>
                  </a:lnTo>
                  <a:close/>
                </a:path>
              </a:pathLst>
            </a:custGeom>
            <a:blipFill>
              <a:blip r:embed="rId4"/>
              <a:stretch>
                <a:fillRect l="0" t="-14" r="0" b="-14"/>
              </a:stretch>
            </a:blipFill>
          </p:spPr>
        </p:sp>
      </p:grpSp>
      <p:sp>
        <p:nvSpPr>
          <p:cNvPr name="TextBox 8" id="8"/>
          <p:cNvSpPr txBox="true"/>
          <p:nvPr/>
        </p:nvSpPr>
        <p:spPr>
          <a:xfrm rot="0">
            <a:off x="11863235" y="3033865"/>
            <a:ext cx="4986338" cy="528037"/>
          </a:xfrm>
          <a:prstGeom prst="rect">
            <a:avLst/>
          </a:prstGeom>
        </p:spPr>
        <p:txBody>
          <a:bodyPr anchor="t" rtlCol="false" tIns="0" lIns="0" bIns="0" rIns="0">
            <a:spAutoFit/>
          </a:bodyPr>
          <a:lstStyle/>
          <a:p>
            <a:pPr algn="l">
              <a:lnSpc>
                <a:spcPts val="3993"/>
              </a:lnSpc>
            </a:pPr>
            <a:r>
              <a:rPr lang="en-US" sz="3200" b="true">
                <a:solidFill>
                  <a:srgbClr val="FFFFFF"/>
                </a:solidFill>
                <a:latin typeface="Barlow Bold"/>
                <a:ea typeface="Barlow Bold"/>
                <a:cs typeface="Barlow Bold"/>
                <a:sym typeface="Barlow Bold"/>
              </a:rPr>
              <a:t>Dataset Description</a:t>
            </a:r>
          </a:p>
        </p:txBody>
      </p:sp>
      <p:sp>
        <p:nvSpPr>
          <p:cNvPr name="TextBox 9" id="9"/>
          <p:cNvSpPr txBox="true"/>
          <p:nvPr/>
        </p:nvSpPr>
        <p:spPr>
          <a:xfrm rot="0">
            <a:off x="11863235" y="3632597"/>
            <a:ext cx="5354088" cy="1205655"/>
          </a:xfrm>
          <a:prstGeom prst="rect">
            <a:avLst/>
          </a:prstGeom>
        </p:spPr>
        <p:txBody>
          <a:bodyPr anchor="t" rtlCol="false" tIns="0" lIns="0" bIns="0" rIns="0">
            <a:spAutoFit/>
          </a:bodyPr>
          <a:lstStyle/>
          <a:p>
            <a:pPr algn="l">
              <a:lnSpc>
                <a:spcPts val="1779"/>
              </a:lnSpc>
            </a:pPr>
            <a:r>
              <a:rPr lang="en-US" sz="1398">
                <a:solidFill>
                  <a:srgbClr val="E5E0DF"/>
                </a:solidFill>
                <a:latin typeface="Barlow"/>
                <a:ea typeface="Barlow"/>
                <a:cs typeface="Barlow"/>
                <a:sym typeface="Barlow"/>
              </a:rPr>
              <a:t>The analysis is built on a domestic violence survey dataset containing demographic and social information. The dataset includes age, education, employment, income, marital status, and violence status variables to identify important patterns and relationships using Power BI.</a:t>
            </a:r>
          </a:p>
        </p:txBody>
      </p:sp>
      <p:sp>
        <p:nvSpPr>
          <p:cNvPr name="Freeform 10" id="10"/>
          <p:cNvSpPr/>
          <p:nvPr/>
        </p:nvSpPr>
        <p:spPr>
          <a:xfrm flipH="false" flipV="false" rot="0">
            <a:off x="1071715" y="7102231"/>
            <a:ext cx="5319998" cy="2301145"/>
          </a:xfrm>
          <a:custGeom>
            <a:avLst/>
            <a:gdLst/>
            <a:ahLst/>
            <a:cxnLst/>
            <a:rect r="r" b="b" t="t" l="l"/>
            <a:pathLst>
              <a:path h="2301145" w="5319998">
                <a:moveTo>
                  <a:pt x="0" y="0"/>
                </a:moveTo>
                <a:lnTo>
                  <a:pt x="5319998" y="0"/>
                </a:lnTo>
                <a:lnTo>
                  <a:pt x="5319998" y="2301144"/>
                </a:lnTo>
                <a:lnTo>
                  <a:pt x="0" y="23011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1272778" y="7303294"/>
            <a:ext cx="2035969" cy="264023"/>
          </a:xfrm>
          <a:prstGeom prst="rect">
            <a:avLst/>
          </a:prstGeom>
        </p:spPr>
        <p:txBody>
          <a:bodyPr anchor="t" rtlCol="false" tIns="0" lIns="0" bIns="0" rIns="0">
            <a:spAutoFit/>
          </a:bodyPr>
          <a:lstStyle/>
          <a:p>
            <a:pPr algn="l">
              <a:lnSpc>
                <a:spcPts val="1996"/>
              </a:lnSpc>
            </a:pPr>
            <a:r>
              <a:rPr lang="en-US" sz="1600">
                <a:solidFill>
                  <a:srgbClr val="000000"/>
                </a:solidFill>
                <a:latin typeface="Barlow"/>
                <a:ea typeface="Barlow"/>
                <a:cs typeface="Barlow"/>
                <a:sym typeface="Barlow"/>
              </a:rPr>
              <a:t>📊</a:t>
            </a:r>
            <a:r>
              <a:rPr lang="en-US" sz="1600" b="true">
                <a:solidFill>
                  <a:srgbClr val="E5E0DF"/>
                </a:solidFill>
                <a:latin typeface="Barlow Bold"/>
                <a:ea typeface="Barlow Bold"/>
                <a:cs typeface="Barlow Bold"/>
                <a:sym typeface="Barlow Bold"/>
              </a:rPr>
              <a:t> Records</a:t>
            </a:r>
          </a:p>
        </p:txBody>
      </p:sp>
      <p:sp>
        <p:nvSpPr>
          <p:cNvPr name="TextBox 12" id="12"/>
          <p:cNvSpPr txBox="true"/>
          <p:nvPr/>
        </p:nvSpPr>
        <p:spPr>
          <a:xfrm rot="0">
            <a:off x="1272778" y="7594406"/>
            <a:ext cx="4917872" cy="271615"/>
          </a:xfrm>
          <a:prstGeom prst="rect">
            <a:avLst/>
          </a:prstGeom>
        </p:spPr>
        <p:txBody>
          <a:bodyPr anchor="t" rtlCol="false" tIns="0" lIns="0" bIns="0" rIns="0">
            <a:spAutoFit/>
          </a:bodyPr>
          <a:lstStyle/>
          <a:p>
            <a:pPr algn="l">
              <a:lnSpc>
                <a:spcPts val="1779"/>
              </a:lnSpc>
            </a:pPr>
            <a:r>
              <a:rPr lang="en-US" sz="1398">
                <a:solidFill>
                  <a:srgbClr val="E5E0DF"/>
                </a:solidFill>
                <a:latin typeface="Barlow"/>
                <a:ea typeface="Barlow"/>
                <a:cs typeface="Barlow"/>
                <a:sym typeface="Barlow"/>
              </a:rPr>
              <a:t>347 survey records</a:t>
            </a:r>
          </a:p>
        </p:txBody>
      </p:sp>
      <p:sp>
        <p:nvSpPr>
          <p:cNvPr name="Freeform 13" id="13"/>
          <p:cNvSpPr/>
          <p:nvPr/>
        </p:nvSpPr>
        <p:spPr>
          <a:xfrm flipH="false" flipV="false" rot="0">
            <a:off x="6483848" y="7102231"/>
            <a:ext cx="5320094" cy="2301145"/>
          </a:xfrm>
          <a:custGeom>
            <a:avLst/>
            <a:gdLst/>
            <a:ahLst/>
            <a:cxnLst/>
            <a:rect r="r" b="b" t="t" l="l"/>
            <a:pathLst>
              <a:path h="2301145" w="5320094">
                <a:moveTo>
                  <a:pt x="0" y="0"/>
                </a:moveTo>
                <a:lnTo>
                  <a:pt x="5320094" y="0"/>
                </a:lnTo>
                <a:lnTo>
                  <a:pt x="5320094" y="2301144"/>
                </a:lnTo>
                <a:lnTo>
                  <a:pt x="0" y="230114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4" id="14"/>
          <p:cNvSpPr txBox="true"/>
          <p:nvPr/>
        </p:nvSpPr>
        <p:spPr>
          <a:xfrm rot="0">
            <a:off x="6684912" y="7265194"/>
            <a:ext cx="4918024" cy="281140"/>
          </a:xfrm>
          <a:prstGeom prst="rect">
            <a:avLst/>
          </a:prstGeom>
        </p:spPr>
        <p:txBody>
          <a:bodyPr anchor="t" rtlCol="false" tIns="0" lIns="0" bIns="0" rIns="0">
            <a:spAutoFit/>
          </a:bodyPr>
          <a:lstStyle/>
          <a:p>
            <a:pPr algn="l">
              <a:lnSpc>
                <a:spcPts val="1779"/>
              </a:lnSpc>
            </a:pPr>
            <a:r>
              <a:rPr lang="en-US" sz="1398">
                <a:solidFill>
                  <a:srgbClr val="000000"/>
                </a:solidFill>
                <a:latin typeface="Barlow"/>
                <a:ea typeface="Barlow"/>
                <a:cs typeface="Barlow"/>
                <a:sym typeface="Barlow"/>
              </a:rPr>
              <a:t>🔢</a:t>
            </a:r>
            <a:r>
              <a:rPr lang="en-US" sz="1398">
                <a:solidFill>
                  <a:srgbClr val="E5E0DF"/>
                </a:solidFill>
                <a:latin typeface="Barlow"/>
                <a:ea typeface="Barlow"/>
                <a:cs typeface="Barlow"/>
                <a:sym typeface="Barlow"/>
              </a:rPr>
              <a:t> </a:t>
            </a:r>
            <a:r>
              <a:rPr lang="en-US" sz="1398" b="true">
                <a:solidFill>
                  <a:srgbClr val="E5E0DF"/>
                </a:solidFill>
                <a:latin typeface="Barlow Bold"/>
                <a:ea typeface="Barlow Bold"/>
                <a:cs typeface="Barlow Bold"/>
                <a:sym typeface="Barlow Bold"/>
              </a:rPr>
              <a:t>Variables</a:t>
            </a:r>
          </a:p>
        </p:txBody>
      </p:sp>
      <p:sp>
        <p:nvSpPr>
          <p:cNvPr name="TextBox 15" id="15"/>
          <p:cNvSpPr txBox="true"/>
          <p:nvPr/>
        </p:nvSpPr>
        <p:spPr>
          <a:xfrm rot="0">
            <a:off x="6684912" y="7573413"/>
            <a:ext cx="4918024" cy="1628927"/>
          </a:xfrm>
          <a:prstGeom prst="rect">
            <a:avLst/>
          </a:prstGeom>
        </p:spPr>
        <p:txBody>
          <a:bodyPr anchor="t" rtlCol="false" tIns="0" lIns="0" bIns="0" rIns="0">
            <a:spAutoFit/>
          </a:bodyPr>
          <a:lstStyle/>
          <a:p>
            <a:pPr algn="l" marL="337699" indent="-112566" lvl="2">
              <a:lnSpc>
                <a:spcPts val="1779"/>
              </a:lnSpc>
              <a:buFont typeface="Arial"/>
              <a:buChar char="⚬"/>
            </a:pPr>
            <a:r>
              <a:rPr lang="en-US" sz="1398">
                <a:solidFill>
                  <a:srgbClr val="E5E0DF"/>
                </a:solidFill>
                <a:latin typeface="Barlow"/>
                <a:ea typeface="Barlow"/>
                <a:cs typeface="Barlow"/>
                <a:sym typeface="Barlow"/>
              </a:rPr>
              <a:t>Age</a:t>
            </a:r>
          </a:p>
          <a:p>
            <a:pPr algn="l" marL="337699" indent="-112566" lvl="2">
              <a:lnSpc>
                <a:spcPts val="1779"/>
              </a:lnSpc>
              <a:buFont typeface="Arial"/>
              <a:buChar char="⚬"/>
            </a:pPr>
            <a:r>
              <a:rPr lang="en-US" sz="1398">
                <a:solidFill>
                  <a:srgbClr val="E5E0DF"/>
                </a:solidFill>
                <a:latin typeface="Barlow"/>
                <a:ea typeface="Barlow"/>
                <a:cs typeface="Barlow"/>
                <a:sym typeface="Barlow"/>
              </a:rPr>
              <a:t>Education</a:t>
            </a:r>
          </a:p>
          <a:p>
            <a:pPr algn="l" marL="337699" indent="-112566" lvl="2">
              <a:lnSpc>
                <a:spcPts val="1779"/>
              </a:lnSpc>
              <a:buFont typeface="Arial"/>
              <a:buChar char="⚬"/>
            </a:pPr>
            <a:r>
              <a:rPr lang="en-US" sz="1398">
                <a:solidFill>
                  <a:srgbClr val="E5E0DF"/>
                </a:solidFill>
                <a:latin typeface="Barlow"/>
                <a:ea typeface="Barlow"/>
                <a:cs typeface="Barlow"/>
                <a:sym typeface="Barlow"/>
              </a:rPr>
              <a:t>Employment</a:t>
            </a:r>
          </a:p>
          <a:p>
            <a:pPr algn="l" marL="337699" indent="-112566" lvl="2">
              <a:lnSpc>
                <a:spcPts val="1779"/>
              </a:lnSpc>
              <a:buFont typeface="Arial"/>
              <a:buChar char="⚬"/>
            </a:pPr>
            <a:r>
              <a:rPr lang="en-US" sz="1398">
                <a:solidFill>
                  <a:srgbClr val="E5E0DF"/>
                </a:solidFill>
                <a:latin typeface="Barlow"/>
                <a:ea typeface="Barlow"/>
                <a:cs typeface="Barlow"/>
                <a:sym typeface="Barlow"/>
              </a:rPr>
              <a:t>Income</a:t>
            </a:r>
          </a:p>
          <a:p>
            <a:pPr algn="l" marL="337699" indent="-112566" lvl="2">
              <a:lnSpc>
                <a:spcPts val="1779"/>
              </a:lnSpc>
              <a:buFont typeface="Arial"/>
              <a:buChar char="⚬"/>
            </a:pPr>
            <a:r>
              <a:rPr lang="en-US" sz="1398">
                <a:solidFill>
                  <a:srgbClr val="E5E0DF"/>
                </a:solidFill>
                <a:latin typeface="Barlow"/>
                <a:ea typeface="Barlow"/>
                <a:cs typeface="Barlow"/>
                <a:sym typeface="Barlow"/>
              </a:rPr>
              <a:t>Marital Status</a:t>
            </a:r>
          </a:p>
          <a:p>
            <a:pPr algn="l" marL="337699" indent="-112566" lvl="2">
              <a:lnSpc>
                <a:spcPts val="1779"/>
              </a:lnSpc>
              <a:buFont typeface="Arial"/>
              <a:buChar char="⚬"/>
            </a:pPr>
            <a:r>
              <a:rPr lang="en-US" sz="1398">
                <a:solidFill>
                  <a:srgbClr val="E5E0DF"/>
                </a:solidFill>
                <a:latin typeface="Barlow"/>
                <a:ea typeface="Barlow"/>
                <a:cs typeface="Barlow"/>
                <a:sym typeface="Barlow"/>
              </a:rPr>
              <a:t>Violence Status</a:t>
            </a:r>
          </a:p>
        </p:txBody>
      </p:sp>
      <p:sp>
        <p:nvSpPr>
          <p:cNvPr name="Freeform 16" id="16"/>
          <p:cNvSpPr/>
          <p:nvPr/>
        </p:nvSpPr>
        <p:spPr>
          <a:xfrm flipH="false" flipV="false" rot="0">
            <a:off x="11896125" y="7102231"/>
            <a:ext cx="5319998" cy="2301145"/>
          </a:xfrm>
          <a:custGeom>
            <a:avLst/>
            <a:gdLst/>
            <a:ahLst/>
            <a:cxnLst/>
            <a:rect r="r" b="b" t="t" l="l"/>
            <a:pathLst>
              <a:path h="2301145" w="5319998">
                <a:moveTo>
                  <a:pt x="0" y="0"/>
                </a:moveTo>
                <a:lnTo>
                  <a:pt x="5319998" y="0"/>
                </a:lnTo>
                <a:lnTo>
                  <a:pt x="5319998" y="2301144"/>
                </a:lnTo>
                <a:lnTo>
                  <a:pt x="0" y="23011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7" id="17"/>
          <p:cNvSpPr txBox="true"/>
          <p:nvPr/>
        </p:nvSpPr>
        <p:spPr>
          <a:xfrm rot="0">
            <a:off x="12097198" y="7303294"/>
            <a:ext cx="2095500" cy="264023"/>
          </a:xfrm>
          <a:prstGeom prst="rect">
            <a:avLst/>
          </a:prstGeom>
        </p:spPr>
        <p:txBody>
          <a:bodyPr anchor="t" rtlCol="false" tIns="0" lIns="0" bIns="0" rIns="0">
            <a:spAutoFit/>
          </a:bodyPr>
          <a:lstStyle/>
          <a:p>
            <a:pPr algn="l">
              <a:lnSpc>
                <a:spcPts val="1996"/>
              </a:lnSpc>
            </a:pPr>
            <a:r>
              <a:rPr lang="en-US" sz="1600">
                <a:solidFill>
                  <a:srgbClr val="000000"/>
                </a:solidFill>
                <a:latin typeface="Barlow"/>
                <a:ea typeface="Barlow"/>
                <a:cs typeface="Barlow"/>
                <a:sym typeface="Barlow"/>
              </a:rPr>
              <a:t>📅</a:t>
            </a:r>
            <a:r>
              <a:rPr lang="en-US" sz="1600" b="true">
                <a:solidFill>
                  <a:srgbClr val="E5E0DF"/>
                </a:solidFill>
                <a:latin typeface="Barlow Bold"/>
                <a:ea typeface="Barlow Bold"/>
                <a:cs typeface="Barlow Bold"/>
                <a:sym typeface="Barlow Bold"/>
              </a:rPr>
              <a:t> Dataset Information</a:t>
            </a:r>
          </a:p>
        </p:txBody>
      </p:sp>
      <p:sp>
        <p:nvSpPr>
          <p:cNvPr name="TextBox 18" id="18"/>
          <p:cNvSpPr txBox="true"/>
          <p:nvPr/>
        </p:nvSpPr>
        <p:spPr>
          <a:xfrm rot="0">
            <a:off x="12097198" y="7594406"/>
            <a:ext cx="4917872" cy="814540"/>
          </a:xfrm>
          <a:prstGeom prst="rect">
            <a:avLst/>
          </a:prstGeom>
        </p:spPr>
        <p:txBody>
          <a:bodyPr anchor="t" rtlCol="false" tIns="0" lIns="0" bIns="0" rIns="0">
            <a:spAutoFit/>
          </a:bodyPr>
          <a:lstStyle/>
          <a:p>
            <a:pPr algn="l" marL="337699" indent="-112566" lvl="2">
              <a:lnSpc>
                <a:spcPts val="1779"/>
              </a:lnSpc>
              <a:buFont typeface="Arial"/>
              <a:buChar char="⚬"/>
            </a:pPr>
            <a:r>
              <a:rPr lang="en-US" sz="1398">
                <a:solidFill>
                  <a:srgbClr val="E5E0DF"/>
                </a:solidFill>
                <a:latin typeface="Barlow"/>
                <a:ea typeface="Barlow"/>
                <a:cs typeface="Barlow"/>
                <a:sym typeface="Barlow"/>
              </a:rPr>
              <a:t>Total Records: 347</a:t>
            </a:r>
          </a:p>
          <a:p>
            <a:pPr algn="l" marL="337699" indent="-112566" lvl="2">
              <a:lnSpc>
                <a:spcPts val="1779"/>
              </a:lnSpc>
              <a:buFont typeface="Arial"/>
              <a:buChar char="⚬"/>
            </a:pPr>
            <a:r>
              <a:rPr lang="en-US" sz="1398">
                <a:solidFill>
                  <a:srgbClr val="E5E0DF"/>
                </a:solidFill>
                <a:latin typeface="Barlow"/>
                <a:ea typeface="Barlow"/>
                <a:cs typeface="Barlow"/>
                <a:sym typeface="Barlow"/>
              </a:rPr>
              <a:t>Violence Cases: 86</a:t>
            </a:r>
          </a:p>
          <a:p>
            <a:pPr algn="l" marL="337699" indent="-112566" lvl="2">
              <a:lnSpc>
                <a:spcPts val="1779"/>
              </a:lnSpc>
              <a:buFont typeface="Arial"/>
              <a:buChar char="⚬"/>
            </a:pPr>
            <a:r>
              <a:rPr lang="en-US" sz="1398">
                <a:solidFill>
                  <a:srgbClr val="E5E0DF"/>
                </a:solidFill>
                <a:latin typeface="Barlow"/>
                <a:ea typeface="Barlow"/>
                <a:cs typeface="Barlow"/>
                <a:sym typeface="Barlow"/>
              </a:rPr>
              <a:t>Average Age: 31.38 years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91718">
                <a:alpha val="81176"/>
              </a:srgbClr>
            </a:solidFill>
          </p:spPr>
        </p:sp>
      </p:grpSp>
      <p:sp>
        <p:nvSpPr>
          <p:cNvPr name="TextBox 6" id="6"/>
          <p:cNvSpPr txBox="true"/>
          <p:nvPr/>
        </p:nvSpPr>
        <p:spPr>
          <a:xfrm rot="0">
            <a:off x="1080049" y="1417139"/>
            <a:ext cx="8883406" cy="933450"/>
          </a:xfrm>
          <a:prstGeom prst="rect">
            <a:avLst/>
          </a:prstGeom>
        </p:spPr>
        <p:txBody>
          <a:bodyPr anchor="t" rtlCol="false" tIns="0" lIns="0" bIns="0" rIns="0">
            <a:spAutoFit/>
          </a:bodyPr>
          <a:lstStyle/>
          <a:p>
            <a:pPr algn="l">
              <a:lnSpc>
                <a:spcPts val="6738"/>
              </a:lnSpc>
            </a:pPr>
            <a:r>
              <a:rPr lang="en-US" sz="5400" b="true">
                <a:solidFill>
                  <a:srgbClr val="FFFFFF"/>
                </a:solidFill>
                <a:latin typeface="Barlow Bold"/>
                <a:ea typeface="Barlow Bold"/>
                <a:cs typeface="Barlow Bold"/>
                <a:sym typeface="Barlow Bold"/>
              </a:rPr>
              <a:t>Tools &amp; Technologies Used</a:t>
            </a:r>
          </a:p>
        </p:txBody>
      </p:sp>
      <p:sp>
        <p:nvSpPr>
          <p:cNvPr name="Freeform 7" id="7" descr="preencoded.png"/>
          <p:cNvSpPr/>
          <p:nvPr/>
        </p:nvSpPr>
        <p:spPr>
          <a:xfrm flipH="false" flipV="false" rot="0">
            <a:off x="1080049" y="2967780"/>
            <a:ext cx="617191" cy="617191"/>
          </a:xfrm>
          <a:custGeom>
            <a:avLst/>
            <a:gdLst/>
            <a:ahLst/>
            <a:cxnLst/>
            <a:rect r="r" b="b" t="t" l="l"/>
            <a:pathLst>
              <a:path h="617191" w="617191">
                <a:moveTo>
                  <a:pt x="0" y="0"/>
                </a:moveTo>
                <a:lnTo>
                  <a:pt x="617192" y="0"/>
                </a:lnTo>
                <a:lnTo>
                  <a:pt x="617192" y="617192"/>
                </a:lnTo>
                <a:lnTo>
                  <a:pt x="0" y="617192"/>
                </a:lnTo>
                <a:lnTo>
                  <a:pt x="0" y="0"/>
                </a:lnTo>
                <a:close/>
              </a:path>
            </a:pathLst>
          </a:custGeom>
          <a:blipFill>
            <a:blip r:embed="rId4">
              <a:extLst>
                <a:ext uri="{96DAC541-7B7A-43D3-8B79-37D633B846F1}">
                  <asvg:svgBlip xmlns:asvg="http://schemas.microsoft.com/office/drawing/2016/SVG/main" r:embed="rId5"/>
                </a:ext>
              </a:extLst>
            </a:blip>
            <a:stretch>
              <a:fillRect l="-768" t="0" r="-770" b="0"/>
            </a:stretch>
          </a:blipFill>
        </p:spPr>
      </p:sp>
      <p:sp>
        <p:nvSpPr>
          <p:cNvPr name="TextBox 8" id="8"/>
          <p:cNvSpPr txBox="true"/>
          <p:nvPr/>
        </p:nvSpPr>
        <p:spPr>
          <a:xfrm rot="0">
            <a:off x="1080049" y="3932634"/>
            <a:ext cx="3429000" cy="466725"/>
          </a:xfrm>
          <a:prstGeom prst="rect">
            <a:avLst/>
          </a:prstGeom>
        </p:spPr>
        <p:txBody>
          <a:bodyPr anchor="t" rtlCol="false" tIns="0" lIns="0" bIns="0" rIns="0">
            <a:spAutoFit/>
          </a:bodyPr>
          <a:lstStyle/>
          <a:p>
            <a:pPr algn="l">
              <a:lnSpc>
                <a:spcPts val="3369"/>
              </a:lnSpc>
            </a:pPr>
            <a:r>
              <a:rPr lang="en-US" sz="2700" b="true">
                <a:solidFill>
                  <a:srgbClr val="E5E0DF"/>
                </a:solidFill>
                <a:latin typeface="Barlow Bold"/>
                <a:ea typeface="Barlow Bold"/>
                <a:cs typeface="Barlow Bold"/>
                <a:sym typeface="Barlow Bold"/>
              </a:rPr>
              <a:t>Power BI Desktop</a:t>
            </a:r>
          </a:p>
        </p:txBody>
      </p:sp>
      <p:sp>
        <p:nvSpPr>
          <p:cNvPr name="TextBox 9" id="9"/>
          <p:cNvSpPr txBox="true"/>
          <p:nvPr/>
        </p:nvSpPr>
        <p:spPr>
          <a:xfrm rot="0">
            <a:off x="1080049" y="4374956"/>
            <a:ext cx="7871069" cy="1197178"/>
          </a:xfrm>
          <a:prstGeom prst="rect">
            <a:avLst/>
          </a:prstGeom>
        </p:spPr>
        <p:txBody>
          <a:bodyPr anchor="t" rtlCol="false" tIns="0" lIns="0" bIns="0" rIns="0">
            <a:spAutoFit/>
          </a:bodyPr>
          <a:lstStyle/>
          <a:p>
            <a:pPr algn="l">
              <a:lnSpc>
                <a:spcPts val="3830"/>
              </a:lnSpc>
            </a:pPr>
            <a:r>
              <a:rPr lang="en-US" sz="2400">
                <a:solidFill>
                  <a:srgbClr val="E5E0DF"/>
                </a:solidFill>
                <a:latin typeface="Barlow"/>
                <a:ea typeface="Barlow"/>
                <a:cs typeface="Barlow"/>
                <a:sym typeface="Barlow"/>
              </a:rPr>
              <a:t>Primary tool for data modeling, visualization, and interactive dashboard creation.</a:t>
            </a:r>
          </a:p>
        </p:txBody>
      </p:sp>
      <p:sp>
        <p:nvSpPr>
          <p:cNvPr name="Freeform 10" id="10" descr="preencoded.png"/>
          <p:cNvSpPr/>
          <p:nvPr/>
        </p:nvSpPr>
        <p:spPr>
          <a:xfrm flipH="false" flipV="false" rot="0">
            <a:off x="9336881" y="2967780"/>
            <a:ext cx="617191" cy="617191"/>
          </a:xfrm>
          <a:custGeom>
            <a:avLst/>
            <a:gdLst/>
            <a:ahLst/>
            <a:cxnLst/>
            <a:rect r="r" b="b" t="t" l="l"/>
            <a:pathLst>
              <a:path h="617191" w="617191">
                <a:moveTo>
                  <a:pt x="0" y="0"/>
                </a:moveTo>
                <a:lnTo>
                  <a:pt x="617192" y="0"/>
                </a:lnTo>
                <a:lnTo>
                  <a:pt x="617192" y="617192"/>
                </a:lnTo>
                <a:lnTo>
                  <a:pt x="0" y="617192"/>
                </a:lnTo>
                <a:lnTo>
                  <a:pt x="0" y="0"/>
                </a:lnTo>
                <a:close/>
              </a:path>
            </a:pathLst>
          </a:custGeom>
          <a:blipFill>
            <a:blip r:embed="rId6">
              <a:extLst>
                <a:ext uri="{96DAC541-7B7A-43D3-8B79-37D633B846F1}">
                  <asvg:svgBlip xmlns:asvg="http://schemas.microsoft.com/office/drawing/2016/SVG/main" r:embed="rId7"/>
                </a:ext>
              </a:extLst>
            </a:blip>
            <a:stretch>
              <a:fillRect l="0" t="-4615" r="0" b="-4614"/>
            </a:stretch>
          </a:blipFill>
        </p:spPr>
      </p:sp>
      <p:sp>
        <p:nvSpPr>
          <p:cNvPr name="TextBox 11" id="11"/>
          <p:cNvSpPr txBox="true"/>
          <p:nvPr/>
        </p:nvSpPr>
        <p:spPr>
          <a:xfrm rot="0">
            <a:off x="9336881" y="3932634"/>
            <a:ext cx="3429000" cy="466725"/>
          </a:xfrm>
          <a:prstGeom prst="rect">
            <a:avLst/>
          </a:prstGeom>
        </p:spPr>
        <p:txBody>
          <a:bodyPr anchor="t" rtlCol="false" tIns="0" lIns="0" bIns="0" rIns="0">
            <a:spAutoFit/>
          </a:bodyPr>
          <a:lstStyle/>
          <a:p>
            <a:pPr algn="l">
              <a:lnSpc>
                <a:spcPts val="3369"/>
              </a:lnSpc>
            </a:pPr>
            <a:r>
              <a:rPr lang="en-US" sz="2700" b="true">
                <a:solidFill>
                  <a:srgbClr val="E5E0DF"/>
                </a:solidFill>
                <a:latin typeface="Barlow Bold"/>
                <a:ea typeface="Barlow Bold"/>
                <a:cs typeface="Barlow Bold"/>
                <a:sym typeface="Barlow Bold"/>
              </a:rPr>
              <a:t>Excel / CSV</a:t>
            </a:r>
          </a:p>
        </p:txBody>
      </p:sp>
      <p:sp>
        <p:nvSpPr>
          <p:cNvPr name="TextBox 12" id="12"/>
          <p:cNvSpPr txBox="true"/>
          <p:nvPr/>
        </p:nvSpPr>
        <p:spPr>
          <a:xfrm rot="0">
            <a:off x="9336881" y="4374956"/>
            <a:ext cx="7871069" cy="1197178"/>
          </a:xfrm>
          <a:prstGeom prst="rect">
            <a:avLst/>
          </a:prstGeom>
        </p:spPr>
        <p:txBody>
          <a:bodyPr anchor="t" rtlCol="false" tIns="0" lIns="0" bIns="0" rIns="0">
            <a:spAutoFit/>
          </a:bodyPr>
          <a:lstStyle/>
          <a:p>
            <a:pPr algn="l">
              <a:lnSpc>
                <a:spcPts val="3830"/>
              </a:lnSpc>
            </a:pPr>
            <a:r>
              <a:rPr lang="en-US" sz="2400">
                <a:solidFill>
                  <a:srgbClr val="E5E0DF"/>
                </a:solidFill>
                <a:latin typeface="Barlow"/>
                <a:ea typeface="Barlow"/>
                <a:cs typeface="Barlow"/>
                <a:sym typeface="Barlow"/>
              </a:rPr>
              <a:t>Raw data import, initial cleaning, and transformation before loading into Power BI.</a:t>
            </a:r>
          </a:p>
        </p:txBody>
      </p:sp>
      <p:sp>
        <p:nvSpPr>
          <p:cNvPr name="Freeform 13" id="13" descr="preencoded.png"/>
          <p:cNvSpPr/>
          <p:nvPr/>
        </p:nvSpPr>
        <p:spPr>
          <a:xfrm flipH="false" flipV="false" rot="0">
            <a:off x="1080049" y="6189316"/>
            <a:ext cx="617191" cy="617191"/>
          </a:xfrm>
          <a:custGeom>
            <a:avLst/>
            <a:gdLst/>
            <a:ahLst/>
            <a:cxnLst/>
            <a:rect r="r" b="b" t="t" l="l"/>
            <a:pathLst>
              <a:path h="617191" w="617191">
                <a:moveTo>
                  <a:pt x="0" y="0"/>
                </a:moveTo>
                <a:lnTo>
                  <a:pt x="617192" y="0"/>
                </a:lnTo>
                <a:lnTo>
                  <a:pt x="617192" y="617192"/>
                </a:lnTo>
                <a:lnTo>
                  <a:pt x="0" y="617192"/>
                </a:lnTo>
                <a:lnTo>
                  <a:pt x="0" y="0"/>
                </a:lnTo>
                <a:close/>
              </a:path>
            </a:pathLst>
          </a:custGeom>
          <a:blipFill>
            <a:blip r:embed="rId8">
              <a:extLst>
                <a:ext uri="{96DAC541-7B7A-43D3-8B79-37D633B846F1}">
                  <asvg:svgBlip xmlns:asvg="http://schemas.microsoft.com/office/drawing/2016/SVG/main" r:embed="rId9"/>
                </a:ext>
              </a:extLst>
            </a:blip>
            <a:stretch>
              <a:fillRect l="-15384" t="0" r="-15383" b="0"/>
            </a:stretch>
          </a:blipFill>
        </p:spPr>
      </p:sp>
      <p:sp>
        <p:nvSpPr>
          <p:cNvPr name="TextBox 14" id="14"/>
          <p:cNvSpPr txBox="true"/>
          <p:nvPr/>
        </p:nvSpPr>
        <p:spPr>
          <a:xfrm rot="0">
            <a:off x="1080049" y="7154170"/>
            <a:ext cx="3429000" cy="466725"/>
          </a:xfrm>
          <a:prstGeom prst="rect">
            <a:avLst/>
          </a:prstGeom>
        </p:spPr>
        <p:txBody>
          <a:bodyPr anchor="t" rtlCol="false" tIns="0" lIns="0" bIns="0" rIns="0">
            <a:spAutoFit/>
          </a:bodyPr>
          <a:lstStyle/>
          <a:p>
            <a:pPr algn="l">
              <a:lnSpc>
                <a:spcPts val="3369"/>
              </a:lnSpc>
            </a:pPr>
            <a:r>
              <a:rPr lang="en-US" sz="2700" b="true">
                <a:solidFill>
                  <a:srgbClr val="E5E0DF"/>
                </a:solidFill>
                <a:latin typeface="Barlow Bold"/>
                <a:ea typeface="Barlow Bold"/>
                <a:cs typeface="Barlow Bold"/>
                <a:sym typeface="Barlow Bold"/>
              </a:rPr>
              <a:t>DAX Formulas</a:t>
            </a:r>
          </a:p>
        </p:txBody>
      </p:sp>
      <p:sp>
        <p:nvSpPr>
          <p:cNvPr name="TextBox 15" id="15"/>
          <p:cNvSpPr txBox="true"/>
          <p:nvPr/>
        </p:nvSpPr>
        <p:spPr>
          <a:xfrm rot="0">
            <a:off x="1080049" y="7596483"/>
            <a:ext cx="7871069" cy="1197178"/>
          </a:xfrm>
          <a:prstGeom prst="rect">
            <a:avLst/>
          </a:prstGeom>
        </p:spPr>
        <p:txBody>
          <a:bodyPr anchor="t" rtlCol="false" tIns="0" lIns="0" bIns="0" rIns="0">
            <a:spAutoFit/>
          </a:bodyPr>
          <a:lstStyle/>
          <a:p>
            <a:pPr algn="l">
              <a:lnSpc>
                <a:spcPts val="3830"/>
              </a:lnSpc>
            </a:pPr>
            <a:r>
              <a:rPr lang="en-US" sz="2400">
                <a:solidFill>
                  <a:srgbClr val="E5E0DF"/>
                </a:solidFill>
                <a:latin typeface="Barlow"/>
                <a:ea typeface="Barlow"/>
                <a:cs typeface="Barlow"/>
                <a:sym typeface="Barlow"/>
              </a:rPr>
              <a:t>Data Analysis Expressions used for custom calculations, measures, and KPIs.</a:t>
            </a:r>
          </a:p>
        </p:txBody>
      </p:sp>
      <p:grpSp>
        <p:nvGrpSpPr>
          <p:cNvPr name="Group 16" id="16"/>
          <p:cNvGrpSpPr/>
          <p:nvPr/>
        </p:nvGrpSpPr>
        <p:grpSpPr>
          <a:xfrm rot="0">
            <a:off x="9367685" y="6176962"/>
            <a:ext cx="555307" cy="641699"/>
            <a:chOff x="0" y="0"/>
            <a:chExt cx="740410" cy="855599"/>
          </a:xfrm>
        </p:grpSpPr>
        <p:sp>
          <p:nvSpPr>
            <p:cNvPr name="Freeform 17" id="17"/>
            <p:cNvSpPr/>
            <p:nvPr/>
          </p:nvSpPr>
          <p:spPr>
            <a:xfrm flipH="false" flipV="false" rot="0">
              <a:off x="0" y="0"/>
              <a:ext cx="740410" cy="855599"/>
            </a:xfrm>
            <a:custGeom>
              <a:avLst/>
              <a:gdLst/>
              <a:ahLst/>
              <a:cxnLst/>
              <a:rect r="r" b="b" t="t" l="l"/>
              <a:pathLst>
                <a:path h="855599" w="740410">
                  <a:moveTo>
                    <a:pt x="0" y="91440"/>
                  </a:moveTo>
                  <a:cubicBezTo>
                    <a:pt x="0" y="40894"/>
                    <a:pt x="40894" y="0"/>
                    <a:pt x="91440" y="0"/>
                  </a:cubicBezTo>
                  <a:lnTo>
                    <a:pt x="648970" y="0"/>
                  </a:lnTo>
                  <a:cubicBezTo>
                    <a:pt x="699516" y="0"/>
                    <a:pt x="740410" y="40894"/>
                    <a:pt x="740410" y="91440"/>
                  </a:cubicBezTo>
                  <a:lnTo>
                    <a:pt x="740410" y="764159"/>
                  </a:lnTo>
                  <a:cubicBezTo>
                    <a:pt x="740410" y="814705"/>
                    <a:pt x="699516" y="855599"/>
                    <a:pt x="648970" y="855599"/>
                  </a:cubicBezTo>
                  <a:lnTo>
                    <a:pt x="91440" y="855599"/>
                  </a:lnTo>
                  <a:cubicBezTo>
                    <a:pt x="40894" y="855599"/>
                    <a:pt x="0" y="814705"/>
                    <a:pt x="0" y="764159"/>
                  </a:cubicBezTo>
                  <a:close/>
                </a:path>
              </a:pathLst>
            </a:custGeom>
            <a:solidFill>
              <a:srgbClr val="4D4D51"/>
            </a:solidFill>
          </p:spPr>
        </p:sp>
      </p:grpSp>
      <p:grpSp>
        <p:nvGrpSpPr>
          <p:cNvPr name="Group 18" id="18"/>
          <p:cNvGrpSpPr/>
          <p:nvPr/>
        </p:nvGrpSpPr>
        <p:grpSpPr>
          <a:xfrm rot="0">
            <a:off x="9491072" y="6379664"/>
            <a:ext cx="308515" cy="246793"/>
            <a:chOff x="0" y="0"/>
            <a:chExt cx="411353" cy="329057"/>
          </a:xfrm>
        </p:grpSpPr>
        <p:sp>
          <p:nvSpPr>
            <p:cNvPr name="Freeform 19" id="19" descr="preencoded.png"/>
            <p:cNvSpPr/>
            <p:nvPr/>
          </p:nvSpPr>
          <p:spPr>
            <a:xfrm flipH="false" flipV="false" rot="0">
              <a:off x="0" y="0"/>
              <a:ext cx="411353" cy="329057"/>
            </a:xfrm>
            <a:custGeom>
              <a:avLst/>
              <a:gdLst/>
              <a:ahLst/>
              <a:cxnLst/>
              <a:rect r="r" b="b" t="t" l="l"/>
              <a:pathLst>
                <a:path h="329057" w="411353">
                  <a:moveTo>
                    <a:pt x="0" y="0"/>
                  </a:moveTo>
                  <a:lnTo>
                    <a:pt x="411353" y="0"/>
                  </a:lnTo>
                  <a:lnTo>
                    <a:pt x="411353" y="329057"/>
                  </a:lnTo>
                  <a:lnTo>
                    <a:pt x="0" y="329057"/>
                  </a:lnTo>
                  <a:lnTo>
                    <a:pt x="0" y="0"/>
                  </a:lnTo>
                  <a:close/>
                </a:path>
              </a:pathLst>
            </a:custGeom>
            <a:blipFill>
              <a:blip r:embed="rId10"/>
              <a:stretch>
                <a:fillRect l="0" t="-3" r="0" b="-4"/>
              </a:stretch>
            </a:blipFill>
          </p:spPr>
        </p:sp>
      </p:grpSp>
      <p:sp>
        <p:nvSpPr>
          <p:cNvPr name="TextBox 20" id="20"/>
          <p:cNvSpPr txBox="true"/>
          <p:nvPr/>
        </p:nvSpPr>
        <p:spPr>
          <a:xfrm rot="0">
            <a:off x="9336881" y="7154170"/>
            <a:ext cx="3429000" cy="466725"/>
          </a:xfrm>
          <a:prstGeom prst="rect">
            <a:avLst/>
          </a:prstGeom>
        </p:spPr>
        <p:txBody>
          <a:bodyPr anchor="t" rtlCol="false" tIns="0" lIns="0" bIns="0" rIns="0">
            <a:spAutoFit/>
          </a:bodyPr>
          <a:lstStyle/>
          <a:p>
            <a:pPr algn="l">
              <a:lnSpc>
                <a:spcPts val="3369"/>
              </a:lnSpc>
            </a:pPr>
            <a:r>
              <a:rPr lang="en-US" sz="2700" b="true">
                <a:solidFill>
                  <a:srgbClr val="E5E0DF"/>
                </a:solidFill>
                <a:latin typeface="Barlow Bold"/>
                <a:ea typeface="Barlow Bold"/>
                <a:cs typeface="Barlow Bold"/>
                <a:sym typeface="Barlow Bold"/>
              </a:rPr>
              <a:t>Power Query</a:t>
            </a:r>
          </a:p>
        </p:txBody>
      </p:sp>
      <p:sp>
        <p:nvSpPr>
          <p:cNvPr name="TextBox 21" id="21"/>
          <p:cNvSpPr txBox="true"/>
          <p:nvPr/>
        </p:nvSpPr>
        <p:spPr>
          <a:xfrm rot="0">
            <a:off x="9336881" y="7596483"/>
            <a:ext cx="7871069" cy="1197178"/>
          </a:xfrm>
          <a:prstGeom prst="rect">
            <a:avLst/>
          </a:prstGeom>
        </p:spPr>
        <p:txBody>
          <a:bodyPr anchor="t" rtlCol="false" tIns="0" lIns="0" bIns="0" rIns="0">
            <a:spAutoFit/>
          </a:bodyPr>
          <a:lstStyle/>
          <a:p>
            <a:pPr algn="l">
              <a:lnSpc>
                <a:spcPts val="3830"/>
              </a:lnSpc>
            </a:pPr>
            <a:r>
              <a:rPr lang="en-US" sz="2400">
                <a:solidFill>
                  <a:srgbClr val="E5E0DF"/>
                </a:solidFill>
                <a:latin typeface="Barlow"/>
                <a:ea typeface="Barlow"/>
                <a:cs typeface="Barlow"/>
                <a:sym typeface="Barlow"/>
              </a:rPr>
              <a:t>Used for data cleaning, transformation, and preparing the dataset before visualization.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62784" y="262538"/>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91718">
                <a:alpha val="81176"/>
              </a:srgbClr>
            </a:solidFill>
          </p:spPr>
        </p:sp>
      </p:grpSp>
      <p:grpSp>
        <p:nvGrpSpPr>
          <p:cNvPr name="Group 6" id="6"/>
          <p:cNvGrpSpPr/>
          <p:nvPr/>
        </p:nvGrpSpPr>
        <p:grpSpPr>
          <a:xfrm rot="0">
            <a:off x="1080049" y="848620"/>
            <a:ext cx="299466" cy="240506"/>
            <a:chOff x="0" y="0"/>
            <a:chExt cx="399288" cy="320675"/>
          </a:xfrm>
        </p:grpSpPr>
        <p:sp>
          <p:nvSpPr>
            <p:cNvPr name="Freeform 7" id="7"/>
            <p:cNvSpPr/>
            <p:nvPr/>
          </p:nvSpPr>
          <p:spPr>
            <a:xfrm flipH="false" flipV="false" rot="0">
              <a:off x="0" y="0"/>
              <a:ext cx="399288" cy="320675"/>
            </a:xfrm>
            <a:custGeom>
              <a:avLst/>
              <a:gdLst/>
              <a:ahLst/>
              <a:cxnLst/>
              <a:rect r="r" b="b" t="t" l="l"/>
              <a:pathLst>
                <a:path h="320675" w="399288">
                  <a:moveTo>
                    <a:pt x="0" y="69088"/>
                  </a:moveTo>
                  <a:cubicBezTo>
                    <a:pt x="0" y="30988"/>
                    <a:pt x="30988" y="0"/>
                    <a:pt x="69088" y="0"/>
                  </a:cubicBezTo>
                  <a:lnTo>
                    <a:pt x="330073" y="0"/>
                  </a:lnTo>
                  <a:cubicBezTo>
                    <a:pt x="368300" y="0"/>
                    <a:pt x="399288" y="30988"/>
                    <a:pt x="399288" y="69088"/>
                  </a:cubicBezTo>
                  <a:lnTo>
                    <a:pt x="399288" y="251587"/>
                  </a:lnTo>
                  <a:cubicBezTo>
                    <a:pt x="399288" y="289814"/>
                    <a:pt x="368300" y="320675"/>
                    <a:pt x="330200" y="320675"/>
                  </a:cubicBezTo>
                  <a:lnTo>
                    <a:pt x="69088" y="320675"/>
                  </a:lnTo>
                  <a:cubicBezTo>
                    <a:pt x="30988" y="320675"/>
                    <a:pt x="0" y="289687"/>
                    <a:pt x="0" y="251587"/>
                  </a:cubicBezTo>
                  <a:close/>
                </a:path>
              </a:pathLst>
            </a:custGeom>
            <a:solidFill>
              <a:srgbClr val="480405"/>
            </a:solidFill>
          </p:spPr>
        </p:sp>
      </p:grpSp>
      <p:sp>
        <p:nvSpPr>
          <p:cNvPr name="TextBox 8" id="8"/>
          <p:cNvSpPr txBox="true"/>
          <p:nvPr/>
        </p:nvSpPr>
        <p:spPr>
          <a:xfrm rot="0">
            <a:off x="1172613" y="894902"/>
            <a:ext cx="1028700" cy="147933"/>
          </a:xfrm>
          <a:prstGeom prst="rect">
            <a:avLst/>
          </a:prstGeom>
        </p:spPr>
        <p:txBody>
          <a:bodyPr anchor="t" rtlCol="false" tIns="0" lIns="0" bIns="0" rIns="0">
            <a:spAutoFit/>
          </a:bodyPr>
          <a:lstStyle/>
          <a:p>
            <a:pPr algn="l">
              <a:lnSpc>
                <a:spcPts val="1080"/>
              </a:lnSpc>
            </a:pPr>
            <a:r>
              <a:rPr lang="en-US" sz="900">
                <a:solidFill>
                  <a:srgbClr val="E5E0DF"/>
                </a:solidFill>
                <a:latin typeface="Barlow"/>
                <a:ea typeface="Barlow"/>
                <a:cs typeface="Barlow"/>
                <a:sym typeface="Barlow"/>
              </a:rPr>
              <a:t>Q1</a:t>
            </a:r>
          </a:p>
        </p:txBody>
      </p:sp>
      <p:sp>
        <p:nvSpPr>
          <p:cNvPr name="TextBox 9" id="9"/>
          <p:cNvSpPr txBox="true"/>
          <p:nvPr/>
        </p:nvSpPr>
        <p:spPr>
          <a:xfrm rot="0">
            <a:off x="1080049" y="1081830"/>
            <a:ext cx="5481485" cy="466725"/>
          </a:xfrm>
          <a:prstGeom prst="rect">
            <a:avLst/>
          </a:prstGeom>
        </p:spPr>
        <p:txBody>
          <a:bodyPr anchor="t" rtlCol="false" tIns="0" lIns="0" bIns="0" rIns="0">
            <a:spAutoFit/>
          </a:bodyPr>
          <a:lstStyle/>
          <a:p>
            <a:pPr algn="l">
              <a:lnSpc>
                <a:spcPts val="3369"/>
              </a:lnSpc>
            </a:pPr>
            <a:r>
              <a:rPr lang="en-US" sz="2700" b="true">
                <a:solidFill>
                  <a:srgbClr val="FFFFFF"/>
                </a:solidFill>
                <a:latin typeface="Barlow Bold"/>
                <a:ea typeface="Barlow Bold"/>
                <a:cs typeface="Barlow Bold"/>
                <a:sym typeface="Barlow Bold"/>
              </a:rPr>
              <a:t>Total Domestic Violence Cases</a:t>
            </a:r>
          </a:p>
        </p:txBody>
      </p:sp>
      <p:grpSp>
        <p:nvGrpSpPr>
          <p:cNvPr name="Group 10" id="10"/>
          <p:cNvGrpSpPr/>
          <p:nvPr/>
        </p:nvGrpSpPr>
        <p:grpSpPr>
          <a:xfrm rot="0">
            <a:off x="1080049" y="1664198"/>
            <a:ext cx="19050" cy="358521"/>
            <a:chOff x="0" y="0"/>
            <a:chExt cx="25400" cy="478028"/>
          </a:xfrm>
        </p:grpSpPr>
        <p:sp>
          <p:nvSpPr>
            <p:cNvPr name="Freeform 11" id="11"/>
            <p:cNvSpPr/>
            <p:nvPr/>
          </p:nvSpPr>
          <p:spPr>
            <a:xfrm flipH="false" flipV="false" rot="0">
              <a:off x="0" y="0"/>
              <a:ext cx="25400" cy="478028"/>
            </a:xfrm>
            <a:custGeom>
              <a:avLst/>
              <a:gdLst/>
              <a:ahLst/>
              <a:cxnLst/>
              <a:rect r="r" b="b" t="t" l="l"/>
              <a:pathLst>
                <a:path h="478028" w="25400">
                  <a:moveTo>
                    <a:pt x="0" y="12700"/>
                  </a:moveTo>
                  <a:cubicBezTo>
                    <a:pt x="0" y="5715"/>
                    <a:pt x="5715" y="0"/>
                    <a:pt x="12700" y="0"/>
                  </a:cubicBezTo>
                  <a:cubicBezTo>
                    <a:pt x="19685" y="0"/>
                    <a:pt x="25400" y="5715"/>
                    <a:pt x="25400" y="12700"/>
                  </a:cubicBezTo>
                  <a:lnTo>
                    <a:pt x="25400" y="465328"/>
                  </a:lnTo>
                  <a:cubicBezTo>
                    <a:pt x="25400" y="472313"/>
                    <a:pt x="19685" y="478028"/>
                    <a:pt x="12700" y="478028"/>
                  </a:cubicBezTo>
                  <a:cubicBezTo>
                    <a:pt x="5715" y="478028"/>
                    <a:pt x="0" y="472313"/>
                    <a:pt x="0" y="465328"/>
                  </a:cubicBezTo>
                  <a:close/>
                </a:path>
              </a:pathLst>
            </a:custGeom>
            <a:solidFill>
              <a:srgbClr val="F65F62"/>
            </a:solidFill>
          </p:spPr>
        </p:sp>
      </p:grpSp>
      <p:sp>
        <p:nvSpPr>
          <p:cNvPr name="TextBox 12" id="12"/>
          <p:cNvSpPr txBox="true"/>
          <p:nvPr/>
        </p:nvSpPr>
        <p:spPr>
          <a:xfrm rot="0">
            <a:off x="1311478" y="1750962"/>
            <a:ext cx="16810882" cy="185137"/>
          </a:xfrm>
          <a:prstGeom prst="rect">
            <a:avLst/>
          </a:prstGeom>
        </p:spPr>
        <p:txBody>
          <a:bodyPr anchor="t" rtlCol="false" tIns="0" lIns="0" bIns="0" rIns="0">
            <a:spAutoFit/>
          </a:bodyPr>
          <a:lstStyle/>
          <a:p>
            <a:pPr algn="l">
              <a:lnSpc>
                <a:spcPts val="1438"/>
              </a:lnSpc>
            </a:pPr>
            <a:r>
              <a:rPr lang="en-US" sz="1200">
                <a:solidFill>
                  <a:srgbClr val="E5E0DF"/>
                </a:solidFill>
                <a:latin typeface="Barlow"/>
                <a:ea typeface="Barlow"/>
                <a:cs typeface="Barlow"/>
                <a:sym typeface="Barlow"/>
              </a:rPr>
              <a:t>The dashboard below presents the total number of domestic violence cases based on age, education, employment, income, and marital status.</a:t>
            </a:r>
          </a:p>
        </p:txBody>
      </p:sp>
      <p:grpSp>
        <p:nvGrpSpPr>
          <p:cNvPr name="Group 13" id="13"/>
          <p:cNvGrpSpPr/>
          <p:nvPr/>
        </p:nvGrpSpPr>
        <p:grpSpPr>
          <a:xfrm rot="0">
            <a:off x="1080049" y="2196408"/>
            <a:ext cx="4579620" cy="2547938"/>
            <a:chOff x="0" y="0"/>
            <a:chExt cx="6106160" cy="3397250"/>
          </a:xfrm>
        </p:grpSpPr>
        <p:sp>
          <p:nvSpPr>
            <p:cNvPr name="Freeform 14" id="14" descr="preencoded.png"/>
            <p:cNvSpPr/>
            <p:nvPr/>
          </p:nvSpPr>
          <p:spPr>
            <a:xfrm flipH="false" flipV="false" rot="0">
              <a:off x="0" y="0"/>
              <a:ext cx="6106160" cy="3397250"/>
            </a:xfrm>
            <a:custGeom>
              <a:avLst/>
              <a:gdLst/>
              <a:ahLst/>
              <a:cxnLst/>
              <a:rect r="r" b="b" t="t" l="l"/>
              <a:pathLst>
                <a:path h="3397250" w="6106160">
                  <a:moveTo>
                    <a:pt x="0" y="0"/>
                  </a:moveTo>
                  <a:lnTo>
                    <a:pt x="6106160" y="0"/>
                  </a:lnTo>
                  <a:lnTo>
                    <a:pt x="6106160" y="3397250"/>
                  </a:lnTo>
                  <a:lnTo>
                    <a:pt x="0" y="3397250"/>
                  </a:lnTo>
                  <a:lnTo>
                    <a:pt x="0" y="0"/>
                  </a:lnTo>
                  <a:close/>
                </a:path>
              </a:pathLst>
            </a:custGeom>
            <a:blipFill>
              <a:blip r:embed="rId4"/>
              <a:stretch>
                <a:fillRect l="0" t="-65" r="0" b="-65"/>
              </a:stretch>
            </a:blipFill>
          </p:spPr>
        </p:sp>
      </p:grpSp>
      <p:sp>
        <p:nvSpPr>
          <p:cNvPr name="TextBox 15" id="15"/>
          <p:cNvSpPr txBox="true"/>
          <p:nvPr/>
        </p:nvSpPr>
        <p:spPr>
          <a:xfrm rot="0">
            <a:off x="6488540" y="2863229"/>
            <a:ext cx="3945908" cy="338311"/>
          </a:xfrm>
          <a:prstGeom prst="rect">
            <a:avLst/>
          </a:prstGeom>
        </p:spPr>
        <p:txBody>
          <a:bodyPr anchor="t" rtlCol="false" tIns="0" lIns="0" bIns="0" rIns="0">
            <a:spAutoFit/>
          </a:bodyPr>
          <a:lstStyle/>
          <a:p>
            <a:pPr algn="l">
              <a:lnSpc>
                <a:spcPts val="2768"/>
              </a:lnSpc>
            </a:pPr>
            <a:r>
              <a:rPr lang="en-US" sz="2219" b="true">
                <a:solidFill>
                  <a:srgbClr val="FFFFFF"/>
                </a:solidFill>
                <a:latin typeface="Barlow Bold"/>
                <a:ea typeface="Barlow Bold"/>
                <a:cs typeface="Barlow Bold"/>
                <a:sym typeface="Barlow Bold"/>
              </a:rPr>
              <a:t>Key Metrics to Highlight</a:t>
            </a:r>
          </a:p>
        </p:txBody>
      </p:sp>
      <p:sp>
        <p:nvSpPr>
          <p:cNvPr name="TextBox 16" id="16"/>
          <p:cNvSpPr txBox="true"/>
          <p:nvPr/>
        </p:nvSpPr>
        <p:spPr>
          <a:xfrm rot="0">
            <a:off x="6488540" y="3366487"/>
            <a:ext cx="6225330" cy="948633"/>
          </a:xfrm>
          <a:prstGeom prst="rect">
            <a:avLst/>
          </a:prstGeom>
        </p:spPr>
        <p:txBody>
          <a:bodyPr anchor="t" rtlCol="false" tIns="0" lIns="0" bIns="0" rIns="0">
            <a:spAutoFit/>
          </a:bodyPr>
          <a:lstStyle/>
          <a:p>
            <a:pPr algn="l">
              <a:lnSpc>
                <a:spcPts val="1438"/>
              </a:lnSpc>
            </a:pPr>
            <a:r>
              <a:rPr lang="en-US" sz="1200">
                <a:solidFill>
                  <a:srgbClr val="E5E0DF"/>
                </a:solidFill>
                <a:latin typeface="Barlow"/>
                <a:ea typeface="Barlow"/>
                <a:cs typeface="Barlow"/>
                <a:sym typeface="Barlow"/>
              </a:rPr>
              <a:t>• Total domestic violence cases: </a:t>
            </a:r>
            <a:r>
              <a:rPr lang="en-US" sz="1200" b="true">
                <a:solidFill>
                  <a:srgbClr val="E5E0DF"/>
                </a:solidFill>
                <a:latin typeface="Barlow Bold"/>
                <a:ea typeface="Barlow Bold"/>
                <a:cs typeface="Barlow Bold"/>
                <a:sym typeface="Barlow Bold"/>
              </a:rPr>
              <a:t>86</a:t>
            </a:r>
          </a:p>
          <a:p>
            <a:pPr algn="l">
              <a:lnSpc>
                <a:spcPts val="1438"/>
              </a:lnSpc>
            </a:pPr>
            <a:r>
              <a:rPr lang="en-US" sz="1200">
                <a:solidFill>
                  <a:srgbClr val="E5E0DF"/>
                </a:solidFill>
                <a:latin typeface="Barlow"/>
                <a:ea typeface="Barlow"/>
                <a:cs typeface="Barlow"/>
                <a:sym typeface="Barlow"/>
              </a:rPr>
              <a:t>• Average participant age: </a:t>
            </a:r>
            <a:r>
              <a:rPr lang="en-US" sz="1200" b="true">
                <a:solidFill>
                  <a:srgbClr val="E5E0DF"/>
                </a:solidFill>
                <a:latin typeface="Barlow Bold"/>
                <a:ea typeface="Barlow Bold"/>
                <a:cs typeface="Barlow Bold"/>
                <a:sym typeface="Barlow Bold"/>
              </a:rPr>
              <a:t>34.16 years</a:t>
            </a:r>
          </a:p>
          <a:p>
            <a:pPr algn="l">
              <a:lnSpc>
                <a:spcPts val="1438"/>
              </a:lnSpc>
            </a:pPr>
            <a:r>
              <a:rPr lang="en-US" sz="1200">
                <a:solidFill>
                  <a:srgbClr val="E5E0DF"/>
                </a:solidFill>
                <a:latin typeface="Barlow"/>
                <a:ea typeface="Barlow"/>
                <a:cs typeface="Barlow"/>
                <a:sym typeface="Barlow"/>
              </a:rPr>
              <a:t>• Higher cases among unemployed participants</a:t>
            </a:r>
          </a:p>
          <a:p>
            <a:pPr algn="l">
              <a:lnSpc>
                <a:spcPts val="1438"/>
              </a:lnSpc>
            </a:pPr>
            <a:r>
              <a:rPr lang="en-US" sz="1200">
                <a:solidFill>
                  <a:srgbClr val="E5E0DF"/>
                </a:solidFill>
                <a:latin typeface="Barlow"/>
                <a:ea typeface="Barlow"/>
                <a:cs typeface="Barlow"/>
                <a:sym typeface="Barlow"/>
              </a:rPr>
              <a:t>• Primary education group shows more cases</a:t>
            </a:r>
          </a:p>
        </p:txBody>
      </p:sp>
      <p:sp>
        <p:nvSpPr>
          <p:cNvPr name="TextBox 17" id="17"/>
          <p:cNvSpPr txBox="true"/>
          <p:nvPr/>
        </p:nvSpPr>
        <p:spPr>
          <a:xfrm rot="0">
            <a:off x="1080049" y="5163150"/>
            <a:ext cx="8794252" cy="466725"/>
          </a:xfrm>
          <a:prstGeom prst="rect">
            <a:avLst/>
          </a:prstGeom>
        </p:spPr>
        <p:txBody>
          <a:bodyPr anchor="t" rtlCol="false" tIns="0" lIns="0" bIns="0" rIns="0">
            <a:spAutoFit/>
          </a:bodyPr>
          <a:lstStyle/>
          <a:p>
            <a:pPr algn="l">
              <a:lnSpc>
                <a:spcPts val="3369"/>
              </a:lnSpc>
            </a:pPr>
            <a:r>
              <a:rPr lang="en-US" sz="2700" b="true">
                <a:solidFill>
                  <a:srgbClr val="FFFFFF"/>
                </a:solidFill>
                <a:latin typeface="Barlow Bold"/>
                <a:ea typeface="Barlow Bold"/>
                <a:cs typeface="Barlow Bold"/>
                <a:sym typeface="Barlow Bold"/>
              </a:rPr>
              <a:t>Age Group with the Highest Domestic Violence Cases</a:t>
            </a:r>
          </a:p>
        </p:txBody>
      </p:sp>
      <p:sp>
        <p:nvSpPr>
          <p:cNvPr name="TextBox 18" id="18"/>
          <p:cNvSpPr txBox="true"/>
          <p:nvPr/>
        </p:nvSpPr>
        <p:spPr>
          <a:xfrm rot="0">
            <a:off x="1080049" y="5745509"/>
            <a:ext cx="17042311" cy="185137"/>
          </a:xfrm>
          <a:prstGeom prst="rect">
            <a:avLst/>
          </a:prstGeom>
        </p:spPr>
        <p:txBody>
          <a:bodyPr anchor="t" rtlCol="false" tIns="0" lIns="0" bIns="0" rIns="0">
            <a:spAutoFit/>
          </a:bodyPr>
          <a:lstStyle/>
          <a:p>
            <a:pPr algn="l">
              <a:lnSpc>
                <a:spcPts val="1438"/>
              </a:lnSpc>
            </a:pPr>
            <a:r>
              <a:rPr lang="en-US" sz="1200">
                <a:solidFill>
                  <a:srgbClr val="E5E0DF"/>
                </a:solidFill>
                <a:latin typeface="Barlow"/>
                <a:ea typeface="Barlow"/>
                <a:cs typeface="Barlow"/>
                <a:sym typeface="Barlow"/>
              </a:rPr>
              <a:t>This visualization identifies the age groups with the highest number of domestic violence cases and compares the distribution of cases across different age categories.</a:t>
            </a:r>
          </a:p>
        </p:txBody>
      </p:sp>
      <p:grpSp>
        <p:nvGrpSpPr>
          <p:cNvPr name="Group 19" id="19"/>
          <p:cNvGrpSpPr/>
          <p:nvPr/>
        </p:nvGrpSpPr>
        <p:grpSpPr>
          <a:xfrm rot="0">
            <a:off x="1080049" y="6104182"/>
            <a:ext cx="4160520" cy="2335816"/>
            <a:chOff x="0" y="0"/>
            <a:chExt cx="5547360" cy="3114421"/>
          </a:xfrm>
        </p:grpSpPr>
        <p:sp>
          <p:nvSpPr>
            <p:cNvPr name="Freeform 20" id="20" descr="preencoded.png"/>
            <p:cNvSpPr/>
            <p:nvPr/>
          </p:nvSpPr>
          <p:spPr>
            <a:xfrm flipH="false" flipV="false" rot="0">
              <a:off x="0" y="0"/>
              <a:ext cx="5547360" cy="3114421"/>
            </a:xfrm>
            <a:custGeom>
              <a:avLst/>
              <a:gdLst/>
              <a:ahLst/>
              <a:cxnLst/>
              <a:rect r="r" b="b" t="t" l="l"/>
              <a:pathLst>
                <a:path h="3114421" w="5547360">
                  <a:moveTo>
                    <a:pt x="0" y="0"/>
                  </a:moveTo>
                  <a:lnTo>
                    <a:pt x="5547360" y="0"/>
                  </a:lnTo>
                  <a:lnTo>
                    <a:pt x="5547360" y="3114421"/>
                  </a:lnTo>
                  <a:lnTo>
                    <a:pt x="0" y="3114421"/>
                  </a:lnTo>
                  <a:lnTo>
                    <a:pt x="0" y="0"/>
                  </a:lnTo>
                  <a:close/>
                </a:path>
              </a:pathLst>
            </a:custGeom>
            <a:blipFill>
              <a:blip r:embed="rId5"/>
              <a:stretch>
                <a:fillRect l="0" t="-212" r="0" b="-212"/>
              </a:stretch>
            </a:blipFill>
          </p:spPr>
        </p:sp>
      </p:grpSp>
      <p:sp>
        <p:nvSpPr>
          <p:cNvPr name="TextBox 21" id="21"/>
          <p:cNvSpPr txBox="true"/>
          <p:nvPr/>
        </p:nvSpPr>
        <p:spPr>
          <a:xfrm rot="0">
            <a:off x="1080049" y="8526809"/>
            <a:ext cx="2971800" cy="257023"/>
          </a:xfrm>
          <a:prstGeom prst="rect">
            <a:avLst/>
          </a:prstGeom>
        </p:spPr>
        <p:txBody>
          <a:bodyPr anchor="t" rtlCol="false" tIns="0" lIns="0" bIns="0" rIns="0">
            <a:spAutoFit/>
          </a:bodyPr>
          <a:lstStyle/>
          <a:p>
            <a:pPr algn="l">
              <a:lnSpc>
                <a:spcPts val="1996"/>
              </a:lnSpc>
            </a:pPr>
            <a:r>
              <a:rPr lang="en-US" sz="1600" b="true">
                <a:solidFill>
                  <a:srgbClr val="FFFFFF"/>
                </a:solidFill>
                <a:latin typeface="Barlow Bold"/>
                <a:ea typeface="Barlow Bold"/>
                <a:cs typeface="Barlow Bold"/>
                <a:sym typeface="Barlow Bold"/>
              </a:rPr>
              <a:t>Key Findings</a:t>
            </a:r>
          </a:p>
        </p:txBody>
      </p:sp>
      <p:sp>
        <p:nvSpPr>
          <p:cNvPr name="TextBox 22" id="22"/>
          <p:cNvSpPr txBox="true"/>
          <p:nvPr/>
        </p:nvSpPr>
        <p:spPr>
          <a:xfrm rot="0">
            <a:off x="1080049" y="8860927"/>
            <a:ext cx="8682780" cy="821379"/>
          </a:xfrm>
          <a:prstGeom prst="rect">
            <a:avLst/>
          </a:prstGeom>
        </p:spPr>
        <p:txBody>
          <a:bodyPr anchor="t" rtlCol="false" tIns="0" lIns="0" bIns="0" rIns="0">
            <a:spAutoFit/>
          </a:bodyPr>
          <a:lstStyle/>
          <a:p>
            <a:pPr algn="l" marL="289560" indent="-96520" lvl="2">
              <a:lnSpc>
                <a:spcPts val="1438"/>
              </a:lnSpc>
              <a:buFont typeface="Arial"/>
              <a:buChar char="⚬"/>
            </a:pPr>
            <a:r>
              <a:rPr lang="en-US" sz="1200">
                <a:solidFill>
                  <a:srgbClr val="E5E0DF"/>
                </a:solidFill>
                <a:latin typeface="Barlow"/>
                <a:ea typeface="Barlow"/>
                <a:cs typeface="Barlow"/>
                <a:sym typeface="Barlow"/>
              </a:rPr>
              <a:t>Adult group reported </a:t>
            </a:r>
            <a:r>
              <a:rPr lang="en-US" b="true" sz="1200">
                <a:solidFill>
                  <a:srgbClr val="E5E0DF"/>
                </a:solidFill>
                <a:latin typeface="Barlow Bold"/>
                <a:ea typeface="Barlow Bold"/>
                <a:cs typeface="Barlow Bold"/>
                <a:sym typeface="Barlow Bold"/>
              </a:rPr>
              <a:t>45 cases (52.33%)</a:t>
            </a:r>
            <a:r>
              <a:rPr lang="en-US" sz="1200">
                <a:solidFill>
                  <a:srgbClr val="E5E0DF"/>
                </a:solidFill>
                <a:latin typeface="Barlow"/>
                <a:ea typeface="Barlow"/>
                <a:cs typeface="Barlow"/>
                <a:sym typeface="Barlow"/>
              </a:rPr>
              <a:t>.</a:t>
            </a:r>
          </a:p>
          <a:p>
            <a:pPr algn="l" marL="289560" indent="-96520" lvl="2">
              <a:lnSpc>
                <a:spcPts val="1438"/>
              </a:lnSpc>
              <a:buFont typeface="Arial"/>
              <a:buChar char="⚬"/>
            </a:pPr>
            <a:r>
              <a:rPr lang="en-US" sz="1200">
                <a:solidFill>
                  <a:srgbClr val="E5E0DF"/>
                </a:solidFill>
                <a:latin typeface="Barlow"/>
                <a:ea typeface="Barlow"/>
                <a:cs typeface="Barlow"/>
                <a:sym typeface="Barlow"/>
              </a:rPr>
              <a:t>Young group reported </a:t>
            </a:r>
            <a:r>
              <a:rPr lang="en-US" b="true" sz="1200">
                <a:solidFill>
                  <a:srgbClr val="E5E0DF"/>
                </a:solidFill>
                <a:latin typeface="Barlow Bold"/>
                <a:ea typeface="Barlow Bold"/>
                <a:cs typeface="Barlow Bold"/>
                <a:sym typeface="Barlow Bold"/>
              </a:rPr>
              <a:t>24 cases (27.91%)</a:t>
            </a:r>
            <a:r>
              <a:rPr lang="en-US" sz="1200">
                <a:solidFill>
                  <a:srgbClr val="E5E0DF"/>
                </a:solidFill>
                <a:latin typeface="Barlow"/>
                <a:ea typeface="Barlow"/>
                <a:cs typeface="Barlow"/>
                <a:sym typeface="Barlow"/>
              </a:rPr>
              <a:t>.</a:t>
            </a:r>
          </a:p>
          <a:p>
            <a:pPr algn="l" marL="289560" indent="-96520" lvl="2">
              <a:lnSpc>
                <a:spcPts val="1438"/>
              </a:lnSpc>
              <a:buFont typeface="Arial"/>
              <a:buChar char="⚬"/>
            </a:pPr>
            <a:r>
              <a:rPr lang="en-US" sz="1200">
                <a:solidFill>
                  <a:srgbClr val="E5E0DF"/>
                </a:solidFill>
                <a:latin typeface="Barlow"/>
                <a:ea typeface="Barlow"/>
                <a:cs typeface="Barlow"/>
                <a:sym typeface="Barlow"/>
              </a:rPr>
              <a:t>Senior group reported </a:t>
            </a:r>
            <a:r>
              <a:rPr lang="en-US" b="true" sz="1200">
                <a:solidFill>
                  <a:srgbClr val="E5E0DF"/>
                </a:solidFill>
                <a:latin typeface="Barlow Bold"/>
                <a:ea typeface="Barlow Bold"/>
                <a:cs typeface="Barlow Bold"/>
                <a:sym typeface="Barlow Bold"/>
              </a:rPr>
              <a:t>17 cases (19.77%)</a:t>
            </a:r>
            <a:r>
              <a:rPr lang="en-US" sz="1200">
                <a:solidFill>
                  <a:srgbClr val="E5E0DF"/>
                </a:solidFill>
                <a:latin typeface="Barlow"/>
                <a:ea typeface="Barlow"/>
                <a:cs typeface="Barlow"/>
                <a:sym typeface="Barlow"/>
              </a:rPr>
              <a:t>.</a:t>
            </a:r>
          </a:p>
          <a:p>
            <a:pPr algn="l" marL="289560" indent="-96520" lvl="2">
              <a:lnSpc>
                <a:spcPts val="1438"/>
              </a:lnSpc>
              <a:buFont typeface="Arial"/>
              <a:buChar char="⚬"/>
            </a:pPr>
            <a:r>
              <a:rPr lang="en-US" sz="1200">
                <a:solidFill>
                  <a:srgbClr val="E5E0DF"/>
                </a:solidFill>
                <a:latin typeface="Barlow"/>
                <a:ea typeface="Barlow"/>
                <a:cs typeface="Barlow"/>
                <a:sym typeface="Barlow"/>
              </a:rPr>
              <a:t>Adults were the most affected age category.</a:t>
            </a:r>
          </a:p>
        </p:txBody>
      </p:sp>
      <p:sp>
        <p:nvSpPr>
          <p:cNvPr name="TextBox 23" id="23"/>
          <p:cNvSpPr txBox="true"/>
          <p:nvPr/>
        </p:nvSpPr>
        <p:spPr>
          <a:xfrm rot="0">
            <a:off x="5901036" y="6797421"/>
            <a:ext cx="2971800" cy="257023"/>
          </a:xfrm>
          <a:prstGeom prst="rect">
            <a:avLst/>
          </a:prstGeom>
        </p:spPr>
        <p:txBody>
          <a:bodyPr anchor="t" rtlCol="false" tIns="0" lIns="0" bIns="0" rIns="0">
            <a:spAutoFit/>
          </a:bodyPr>
          <a:lstStyle/>
          <a:p>
            <a:pPr algn="l">
              <a:lnSpc>
                <a:spcPts val="1996"/>
              </a:lnSpc>
            </a:pPr>
            <a:r>
              <a:rPr lang="en-US" sz="1600" b="true">
                <a:solidFill>
                  <a:srgbClr val="FFFFFF"/>
                </a:solidFill>
                <a:latin typeface="Barlow Bold"/>
                <a:ea typeface="Barlow Bold"/>
                <a:cs typeface="Barlow Bold"/>
                <a:sym typeface="Barlow Bold"/>
              </a:rPr>
              <a:t>Analysis Focus</a:t>
            </a:r>
          </a:p>
        </p:txBody>
      </p:sp>
      <p:sp>
        <p:nvSpPr>
          <p:cNvPr name="TextBox 24" id="24"/>
          <p:cNvSpPr txBox="true"/>
          <p:nvPr/>
        </p:nvSpPr>
        <p:spPr>
          <a:xfrm rot="0">
            <a:off x="5901036" y="7272090"/>
            <a:ext cx="7068741" cy="694134"/>
          </a:xfrm>
          <a:prstGeom prst="rect">
            <a:avLst/>
          </a:prstGeom>
        </p:spPr>
        <p:txBody>
          <a:bodyPr anchor="t" rtlCol="false" tIns="0" lIns="0" bIns="0" rIns="0">
            <a:spAutoFit/>
          </a:bodyPr>
          <a:lstStyle/>
          <a:p>
            <a:pPr algn="l">
              <a:lnSpc>
                <a:spcPts val="1438"/>
              </a:lnSpc>
            </a:pPr>
            <a:r>
              <a:rPr lang="en-US" sz="1200">
                <a:solidFill>
                  <a:srgbClr val="E5E0DF"/>
                </a:solidFill>
                <a:latin typeface="Barlow"/>
                <a:ea typeface="Barlow"/>
                <a:cs typeface="Barlow"/>
                <a:sym typeface="Barlow"/>
              </a:rPr>
              <a:t>• Identify the age group with the highest number of cases.</a:t>
            </a:r>
          </a:p>
          <a:p>
            <a:pPr algn="l">
              <a:lnSpc>
                <a:spcPts val="1438"/>
              </a:lnSpc>
            </a:pPr>
            <a:r>
              <a:rPr lang="en-US" sz="1200">
                <a:solidFill>
                  <a:srgbClr val="E5E0DF"/>
                </a:solidFill>
                <a:latin typeface="Barlow"/>
                <a:ea typeface="Barlow"/>
                <a:cs typeface="Barlow"/>
                <a:sym typeface="Barlow"/>
              </a:rPr>
              <a:t>• Compare domestic violence cases among Adult, Young, and Senior groups.</a:t>
            </a:r>
          </a:p>
          <a:p>
            <a:pPr algn="l">
              <a:lnSpc>
                <a:spcPts val="1438"/>
              </a:lnSpc>
            </a:pPr>
            <a:r>
              <a:rPr lang="en-US" sz="1200">
                <a:solidFill>
                  <a:srgbClr val="E5E0DF"/>
                </a:solidFill>
                <a:latin typeface="Barlow"/>
                <a:ea typeface="Barlow"/>
                <a:cs typeface="Barlow"/>
                <a:sym typeface="Barlow"/>
              </a:rPr>
              <a:t>• Support targeted interventions for vulnerable age groups.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91718">
                <a:alpha val="81176"/>
              </a:srgbClr>
            </a:solidFill>
          </p:spPr>
        </p:sp>
      </p:grpSp>
      <p:grpSp>
        <p:nvGrpSpPr>
          <p:cNvPr name="Group 6" id="6"/>
          <p:cNvGrpSpPr/>
          <p:nvPr/>
        </p:nvGrpSpPr>
        <p:grpSpPr>
          <a:xfrm rot="0">
            <a:off x="1080049" y="848620"/>
            <a:ext cx="319850" cy="240506"/>
            <a:chOff x="0" y="0"/>
            <a:chExt cx="426466" cy="320675"/>
          </a:xfrm>
        </p:grpSpPr>
        <p:sp>
          <p:nvSpPr>
            <p:cNvPr name="Freeform 7" id="7"/>
            <p:cNvSpPr/>
            <p:nvPr/>
          </p:nvSpPr>
          <p:spPr>
            <a:xfrm flipH="false" flipV="false" rot="0">
              <a:off x="0" y="0"/>
              <a:ext cx="426466" cy="320675"/>
            </a:xfrm>
            <a:custGeom>
              <a:avLst/>
              <a:gdLst/>
              <a:ahLst/>
              <a:cxnLst/>
              <a:rect r="r" b="b" t="t" l="l"/>
              <a:pathLst>
                <a:path h="320675" w="426466">
                  <a:moveTo>
                    <a:pt x="0" y="69088"/>
                  </a:moveTo>
                  <a:cubicBezTo>
                    <a:pt x="0" y="30988"/>
                    <a:pt x="30988" y="0"/>
                    <a:pt x="69088" y="0"/>
                  </a:cubicBezTo>
                  <a:lnTo>
                    <a:pt x="357378" y="0"/>
                  </a:lnTo>
                  <a:cubicBezTo>
                    <a:pt x="395605" y="0"/>
                    <a:pt x="426466" y="30988"/>
                    <a:pt x="426466" y="69088"/>
                  </a:cubicBezTo>
                  <a:lnTo>
                    <a:pt x="426466" y="251587"/>
                  </a:lnTo>
                  <a:cubicBezTo>
                    <a:pt x="426466" y="289814"/>
                    <a:pt x="395478" y="320675"/>
                    <a:pt x="357378" y="320675"/>
                  </a:cubicBezTo>
                  <a:lnTo>
                    <a:pt x="69088" y="320675"/>
                  </a:lnTo>
                  <a:cubicBezTo>
                    <a:pt x="30988" y="320675"/>
                    <a:pt x="0" y="289687"/>
                    <a:pt x="0" y="251587"/>
                  </a:cubicBezTo>
                  <a:close/>
                </a:path>
              </a:pathLst>
            </a:custGeom>
            <a:solidFill>
              <a:srgbClr val="480405"/>
            </a:solidFill>
          </p:spPr>
        </p:sp>
      </p:grpSp>
      <p:sp>
        <p:nvSpPr>
          <p:cNvPr name="TextBox 8" id="8"/>
          <p:cNvSpPr txBox="true"/>
          <p:nvPr/>
        </p:nvSpPr>
        <p:spPr>
          <a:xfrm rot="0">
            <a:off x="1172613" y="894902"/>
            <a:ext cx="1049093" cy="147933"/>
          </a:xfrm>
          <a:prstGeom prst="rect">
            <a:avLst/>
          </a:prstGeom>
        </p:spPr>
        <p:txBody>
          <a:bodyPr anchor="t" rtlCol="false" tIns="0" lIns="0" bIns="0" rIns="0">
            <a:spAutoFit/>
          </a:bodyPr>
          <a:lstStyle/>
          <a:p>
            <a:pPr algn="l">
              <a:lnSpc>
                <a:spcPts val="1080"/>
              </a:lnSpc>
            </a:pPr>
            <a:r>
              <a:rPr lang="en-US" sz="900">
                <a:solidFill>
                  <a:srgbClr val="E5E0DF"/>
                </a:solidFill>
                <a:latin typeface="Barlow"/>
                <a:ea typeface="Barlow"/>
                <a:cs typeface="Barlow"/>
                <a:sym typeface="Barlow"/>
              </a:rPr>
              <a:t>Q3</a:t>
            </a:r>
          </a:p>
        </p:txBody>
      </p:sp>
      <p:sp>
        <p:nvSpPr>
          <p:cNvPr name="TextBox 9" id="9"/>
          <p:cNvSpPr txBox="true"/>
          <p:nvPr/>
        </p:nvSpPr>
        <p:spPr>
          <a:xfrm rot="0">
            <a:off x="1080049" y="1081830"/>
            <a:ext cx="5230863" cy="466725"/>
          </a:xfrm>
          <a:prstGeom prst="rect">
            <a:avLst/>
          </a:prstGeom>
        </p:spPr>
        <p:txBody>
          <a:bodyPr anchor="t" rtlCol="false" tIns="0" lIns="0" bIns="0" rIns="0">
            <a:spAutoFit/>
          </a:bodyPr>
          <a:lstStyle/>
          <a:p>
            <a:pPr algn="l">
              <a:lnSpc>
                <a:spcPts val="3369"/>
              </a:lnSpc>
            </a:pPr>
            <a:r>
              <a:rPr lang="en-US" sz="2700" b="true">
                <a:solidFill>
                  <a:srgbClr val="FFFFFF"/>
                </a:solidFill>
                <a:latin typeface="Barlow Bold"/>
                <a:ea typeface="Barlow Bold"/>
                <a:cs typeface="Barlow Bold"/>
                <a:sym typeface="Barlow Bold"/>
              </a:rPr>
              <a:t>Effect of Employment Status</a:t>
            </a:r>
          </a:p>
        </p:txBody>
      </p:sp>
      <p:grpSp>
        <p:nvGrpSpPr>
          <p:cNvPr name="Group 10" id="10"/>
          <p:cNvGrpSpPr/>
          <p:nvPr/>
        </p:nvGrpSpPr>
        <p:grpSpPr>
          <a:xfrm rot="0">
            <a:off x="1080049" y="1664198"/>
            <a:ext cx="19050" cy="358521"/>
            <a:chOff x="0" y="0"/>
            <a:chExt cx="25400" cy="478028"/>
          </a:xfrm>
        </p:grpSpPr>
        <p:sp>
          <p:nvSpPr>
            <p:cNvPr name="Freeform 11" id="11"/>
            <p:cNvSpPr/>
            <p:nvPr/>
          </p:nvSpPr>
          <p:spPr>
            <a:xfrm flipH="false" flipV="false" rot="0">
              <a:off x="0" y="0"/>
              <a:ext cx="25400" cy="478028"/>
            </a:xfrm>
            <a:custGeom>
              <a:avLst/>
              <a:gdLst/>
              <a:ahLst/>
              <a:cxnLst/>
              <a:rect r="r" b="b" t="t" l="l"/>
              <a:pathLst>
                <a:path h="478028" w="25400">
                  <a:moveTo>
                    <a:pt x="0" y="12700"/>
                  </a:moveTo>
                  <a:cubicBezTo>
                    <a:pt x="0" y="5715"/>
                    <a:pt x="5715" y="0"/>
                    <a:pt x="12700" y="0"/>
                  </a:cubicBezTo>
                  <a:cubicBezTo>
                    <a:pt x="19685" y="0"/>
                    <a:pt x="25400" y="5715"/>
                    <a:pt x="25400" y="12700"/>
                  </a:cubicBezTo>
                  <a:lnTo>
                    <a:pt x="25400" y="465328"/>
                  </a:lnTo>
                  <a:cubicBezTo>
                    <a:pt x="25400" y="472313"/>
                    <a:pt x="19685" y="478028"/>
                    <a:pt x="12700" y="478028"/>
                  </a:cubicBezTo>
                  <a:cubicBezTo>
                    <a:pt x="5715" y="478028"/>
                    <a:pt x="0" y="472313"/>
                    <a:pt x="0" y="465328"/>
                  </a:cubicBezTo>
                  <a:close/>
                </a:path>
              </a:pathLst>
            </a:custGeom>
            <a:solidFill>
              <a:srgbClr val="F65F62"/>
            </a:solidFill>
          </p:spPr>
        </p:sp>
      </p:grpSp>
      <p:sp>
        <p:nvSpPr>
          <p:cNvPr name="TextBox 12" id="12"/>
          <p:cNvSpPr txBox="true"/>
          <p:nvPr/>
        </p:nvSpPr>
        <p:spPr>
          <a:xfrm rot="0">
            <a:off x="1311478" y="1750962"/>
            <a:ext cx="16810882" cy="185137"/>
          </a:xfrm>
          <a:prstGeom prst="rect">
            <a:avLst/>
          </a:prstGeom>
        </p:spPr>
        <p:txBody>
          <a:bodyPr anchor="t" rtlCol="false" tIns="0" lIns="0" bIns="0" rIns="0">
            <a:spAutoFit/>
          </a:bodyPr>
          <a:lstStyle/>
          <a:p>
            <a:pPr algn="l">
              <a:lnSpc>
                <a:spcPts val="1438"/>
              </a:lnSpc>
            </a:pPr>
            <a:r>
              <a:rPr lang="en-US" sz="1200">
                <a:solidFill>
                  <a:srgbClr val="E5E0DF"/>
                </a:solidFill>
                <a:latin typeface="Barlow"/>
                <a:ea typeface="Barlow"/>
                <a:cs typeface="Barlow"/>
                <a:sym typeface="Barlow"/>
              </a:rPr>
              <a:t>Employment status plays an important role in domestic violence cases. This analysis examines the relationship between employment categories and reported violence cases.</a:t>
            </a:r>
          </a:p>
        </p:txBody>
      </p:sp>
      <p:grpSp>
        <p:nvGrpSpPr>
          <p:cNvPr name="Group 13" id="13"/>
          <p:cNvGrpSpPr/>
          <p:nvPr/>
        </p:nvGrpSpPr>
        <p:grpSpPr>
          <a:xfrm rot="0">
            <a:off x="1080049" y="2468318"/>
            <a:ext cx="9856280" cy="5583841"/>
            <a:chOff x="0" y="0"/>
            <a:chExt cx="13141706" cy="7445121"/>
          </a:xfrm>
        </p:grpSpPr>
        <p:sp>
          <p:nvSpPr>
            <p:cNvPr name="Freeform 14" id="14" descr="preencoded.png"/>
            <p:cNvSpPr/>
            <p:nvPr/>
          </p:nvSpPr>
          <p:spPr>
            <a:xfrm flipH="false" flipV="false" rot="0">
              <a:off x="0" y="0"/>
              <a:ext cx="13141706" cy="7445121"/>
            </a:xfrm>
            <a:custGeom>
              <a:avLst/>
              <a:gdLst/>
              <a:ahLst/>
              <a:cxnLst/>
              <a:rect r="r" b="b" t="t" l="l"/>
              <a:pathLst>
                <a:path h="7445121" w="13141706">
                  <a:moveTo>
                    <a:pt x="0" y="0"/>
                  </a:moveTo>
                  <a:lnTo>
                    <a:pt x="13141706" y="0"/>
                  </a:lnTo>
                  <a:lnTo>
                    <a:pt x="13141706" y="7445121"/>
                  </a:lnTo>
                  <a:lnTo>
                    <a:pt x="0" y="7445121"/>
                  </a:lnTo>
                  <a:lnTo>
                    <a:pt x="0" y="0"/>
                  </a:lnTo>
                  <a:close/>
                </a:path>
              </a:pathLst>
            </a:custGeom>
            <a:blipFill>
              <a:blip r:embed="rId4"/>
              <a:stretch>
                <a:fillRect l="0" t="-97" r="0" b="-97"/>
              </a:stretch>
            </a:blipFill>
          </p:spPr>
        </p:sp>
      </p:grpSp>
      <p:sp>
        <p:nvSpPr>
          <p:cNvPr name="TextBox 15" id="15"/>
          <p:cNvSpPr txBox="true"/>
          <p:nvPr/>
        </p:nvSpPr>
        <p:spPr>
          <a:xfrm rot="0">
            <a:off x="1080049" y="8138960"/>
            <a:ext cx="2971800" cy="257023"/>
          </a:xfrm>
          <a:prstGeom prst="rect">
            <a:avLst/>
          </a:prstGeom>
        </p:spPr>
        <p:txBody>
          <a:bodyPr anchor="t" rtlCol="false" tIns="0" lIns="0" bIns="0" rIns="0">
            <a:spAutoFit/>
          </a:bodyPr>
          <a:lstStyle/>
          <a:p>
            <a:pPr algn="l">
              <a:lnSpc>
                <a:spcPts val="1996"/>
              </a:lnSpc>
            </a:pPr>
            <a:r>
              <a:rPr lang="en-US" sz="1600" b="true">
                <a:solidFill>
                  <a:srgbClr val="FFFFFF"/>
                </a:solidFill>
                <a:latin typeface="Barlow Bold"/>
                <a:ea typeface="Barlow Bold"/>
                <a:cs typeface="Barlow Bold"/>
                <a:sym typeface="Barlow Bold"/>
              </a:rPr>
              <a:t>Key Findings</a:t>
            </a:r>
          </a:p>
        </p:txBody>
      </p:sp>
      <p:sp>
        <p:nvSpPr>
          <p:cNvPr name="TextBox 16" id="16"/>
          <p:cNvSpPr txBox="true"/>
          <p:nvPr/>
        </p:nvSpPr>
        <p:spPr>
          <a:xfrm rot="0">
            <a:off x="1080049" y="8473078"/>
            <a:ext cx="9856289" cy="948633"/>
          </a:xfrm>
          <a:prstGeom prst="rect">
            <a:avLst/>
          </a:prstGeom>
        </p:spPr>
        <p:txBody>
          <a:bodyPr anchor="t" rtlCol="false" tIns="0" lIns="0" bIns="0" rIns="0">
            <a:spAutoFit/>
          </a:bodyPr>
          <a:lstStyle/>
          <a:p>
            <a:pPr algn="l">
              <a:lnSpc>
                <a:spcPts val="1438"/>
              </a:lnSpc>
            </a:pPr>
            <a:r>
              <a:rPr lang="en-US" sz="1200">
                <a:solidFill>
                  <a:srgbClr val="E5E0DF"/>
                </a:solidFill>
                <a:latin typeface="Barlow"/>
                <a:ea typeface="Barlow"/>
                <a:cs typeface="Barlow"/>
                <a:sym typeface="Barlow"/>
              </a:rPr>
              <a:t>• Unemployed individuals reported </a:t>
            </a:r>
            <a:r>
              <a:rPr lang="en-US" sz="1200" b="true">
                <a:solidFill>
                  <a:srgbClr val="E5E0DF"/>
                </a:solidFill>
                <a:latin typeface="Barlow Bold"/>
                <a:ea typeface="Barlow Bold"/>
                <a:cs typeface="Barlow Bold"/>
                <a:sym typeface="Barlow Bold"/>
              </a:rPr>
              <a:t>75 cases (87.21%)</a:t>
            </a:r>
            <a:r>
              <a:rPr lang="en-US" sz="1200">
                <a:solidFill>
                  <a:srgbClr val="E5E0DF"/>
                </a:solidFill>
                <a:latin typeface="Barlow"/>
                <a:ea typeface="Barlow"/>
                <a:cs typeface="Barlow"/>
                <a:sym typeface="Barlow"/>
              </a:rPr>
              <a:t>.</a:t>
            </a:r>
          </a:p>
          <a:p>
            <a:pPr algn="l">
              <a:lnSpc>
                <a:spcPts val="1438"/>
              </a:lnSpc>
            </a:pPr>
            <a:r>
              <a:rPr lang="en-US" sz="1200">
                <a:solidFill>
                  <a:srgbClr val="E5E0DF"/>
                </a:solidFill>
                <a:latin typeface="Barlow"/>
                <a:ea typeface="Barlow"/>
                <a:cs typeface="Barlow"/>
                <a:sym typeface="Barlow"/>
              </a:rPr>
              <a:t>• Employed individuals reported </a:t>
            </a:r>
            <a:r>
              <a:rPr lang="en-US" sz="1200" b="true">
                <a:solidFill>
                  <a:srgbClr val="E5E0DF"/>
                </a:solidFill>
                <a:latin typeface="Barlow Bold"/>
                <a:ea typeface="Barlow Bold"/>
                <a:cs typeface="Barlow Bold"/>
                <a:sym typeface="Barlow Bold"/>
              </a:rPr>
              <a:t>6 cases (6.98%)</a:t>
            </a:r>
            <a:r>
              <a:rPr lang="en-US" sz="1200">
                <a:solidFill>
                  <a:srgbClr val="E5E0DF"/>
                </a:solidFill>
                <a:latin typeface="Barlow"/>
                <a:ea typeface="Barlow"/>
                <a:cs typeface="Barlow"/>
                <a:sym typeface="Barlow"/>
              </a:rPr>
              <a:t>.</a:t>
            </a:r>
          </a:p>
          <a:p>
            <a:pPr algn="l">
              <a:lnSpc>
                <a:spcPts val="1438"/>
              </a:lnSpc>
            </a:pPr>
            <a:r>
              <a:rPr lang="en-US" sz="1200">
                <a:solidFill>
                  <a:srgbClr val="E5E0DF"/>
                </a:solidFill>
                <a:latin typeface="Barlow"/>
                <a:ea typeface="Barlow"/>
                <a:cs typeface="Barlow"/>
                <a:sym typeface="Barlow"/>
              </a:rPr>
              <a:t>• Semi-employed individuals reported </a:t>
            </a:r>
            <a:r>
              <a:rPr lang="en-US" sz="1200" b="true">
                <a:solidFill>
                  <a:srgbClr val="E5E0DF"/>
                </a:solidFill>
                <a:latin typeface="Barlow Bold"/>
                <a:ea typeface="Barlow Bold"/>
                <a:cs typeface="Barlow Bold"/>
                <a:sym typeface="Barlow Bold"/>
              </a:rPr>
              <a:t>5 cases (5.81%)</a:t>
            </a:r>
            <a:r>
              <a:rPr lang="en-US" sz="1200">
                <a:solidFill>
                  <a:srgbClr val="E5E0DF"/>
                </a:solidFill>
                <a:latin typeface="Barlow"/>
                <a:ea typeface="Barlow"/>
                <a:cs typeface="Barlow"/>
                <a:sym typeface="Barlow"/>
              </a:rPr>
              <a:t>.</a:t>
            </a:r>
          </a:p>
          <a:p>
            <a:pPr algn="l">
              <a:lnSpc>
                <a:spcPts val="1438"/>
              </a:lnSpc>
            </a:pPr>
            <a:r>
              <a:rPr lang="en-US" sz="1200">
                <a:solidFill>
                  <a:srgbClr val="E5E0DF"/>
                </a:solidFill>
                <a:latin typeface="Barlow"/>
                <a:ea typeface="Barlow"/>
                <a:cs typeface="Barlow"/>
                <a:sym typeface="Barlow"/>
              </a:rPr>
              <a:t>• Unemployment appears to be strongly associated with higher domestic violence cases.</a:t>
            </a:r>
          </a:p>
        </p:txBody>
      </p:sp>
      <p:sp>
        <p:nvSpPr>
          <p:cNvPr name="TextBox 17" id="17"/>
          <p:cNvSpPr txBox="true"/>
          <p:nvPr/>
        </p:nvSpPr>
        <p:spPr>
          <a:xfrm rot="0">
            <a:off x="11322101" y="2458641"/>
            <a:ext cx="2971800" cy="257023"/>
          </a:xfrm>
          <a:prstGeom prst="rect">
            <a:avLst/>
          </a:prstGeom>
        </p:spPr>
        <p:txBody>
          <a:bodyPr anchor="t" rtlCol="false" tIns="0" lIns="0" bIns="0" rIns="0">
            <a:spAutoFit/>
          </a:bodyPr>
          <a:lstStyle/>
          <a:p>
            <a:pPr algn="l">
              <a:lnSpc>
                <a:spcPts val="1996"/>
              </a:lnSpc>
            </a:pPr>
            <a:r>
              <a:rPr lang="en-US" sz="1600" b="true">
                <a:solidFill>
                  <a:srgbClr val="FFFFFF"/>
                </a:solidFill>
                <a:latin typeface="Barlow Bold"/>
                <a:ea typeface="Barlow Bold"/>
                <a:cs typeface="Barlow Bold"/>
                <a:sym typeface="Barlow Bold"/>
              </a:rPr>
              <a:t>Analysis Focus</a:t>
            </a:r>
          </a:p>
        </p:txBody>
      </p:sp>
      <p:sp>
        <p:nvSpPr>
          <p:cNvPr name="TextBox 18" id="18"/>
          <p:cNvSpPr txBox="true"/>
          <p:nvPr/>
        </p:nvSpPr>
        <p:spPr>
          <a:xfrm rot="0">
            <a:off x="11322101" y="2792759"/>
            <a:ext cx="5895232" cy="948633"/>
          </a:xfrm>
          <a:prstGeom prst="rect">
            <a:avLst/>
          </a:prstGeom>
        </p:spPr>
        <p:txBody>
          <a:bodyPr anchor="t" rtlCol="false" tIns="0" lIns="0" bIns="0" rIns="0">
            <a:spAutoFit/>
          </a:bodyPr>
          <a:lstStyle/>
          <a:p>
            <a:pPr algn="l">
              <a:lnSpc>
                <a:spcPts val="1438"/>
              </a:lnSpc>
            </a:pPr>
            <a:r>
              <a:rPr lang="en-US" sz="1200">
                <a:solidFill>
                  <a:srgbClr val="E5E0DF"/>
                </a:solidFill>
                <a:latin typeface="Barlow"/>
                <a:ea typeface="Barlow"/>
                <a:cs typeface="Barlow"/>
                <a:sym typeface="Barlow"/>
              </a:rPr>
              <a:t>• Compare domestic violence cases across employment groups.</a:t>
            </a:r>
          </a:p>
          <a:p>
            <a:pPr algn="l">
              <a:lnSpc>
                <a:spcPts val="1438"/>
              </a:lnSpc>
            </a:pPr>
            <a:r>
              <a:rPr lang="en-US" sz="1200">
                <a:solidFill>
                  <a:srgbClr val="E5E0DF"/>
                </a:solidFill>
                <a:latin typeface="Barlow"/>
                <a:ea typeface="Barlow"/>
                <a:cs typeface="Barlow"/>
                <a:sym typeface="Barlow"/>
              </a:rPr>
              <a:t>• Identify the employment category with the highest cases.</a:t>
            </a:r>
          </a:p>
          <a:p>
            <a:pPr algn="l">
              <a:lnSpc>
                <a:spcPts val="1438"/>
              </a:lnSpc>
            </a:pPr>
            <a:r>
              <a:rPr lang="en-US" sz="1200">
                <a:solidFill>
                  <a:srgbClr val="E5E0DF"/>
                </a:solidFill>
                <a:latin typeface="Barlow"/>
                <a:ea typeface="Barlow"/>
                <a:cs typeface="Barlow"/>
                <a:sym typeface="Barlow"/>
              </a:rPr>
              <a:t>• Analyze the relationship between employment status and violence.</a:t>
            </a:r>
          </a:p>
          <a:p>
            <a:pPr algn="l">
              <a:lnSpc>
                <a:spcPts val="1438"/>
              </a:lnSpc>
            </a:pPr>
            <a:r>
              <a:rPr lang="en-US" sz="1200">
                <a:solidFill>
                  <a:srgbClr val="E5E0DF"/>
                </a:solidFill>
                <a:latin typeface="Barlow"/>
                <a:ea typeface="Barlow"/>
                <a:cs typeface="Barlow"/>
                <a:sym typeface="Barlow"/>
              </a:rPr>
              <a:t>• Support socioeconomic risk assessment.</a:t>
            </a:r>
          </a:p>
        </p:txBody>
      </p:sp>
      <p:sp>
        <p:nvSpPr>
          <p:cNvPr name="TextBox 19" id="19"/>
          <p:cNvSpPr txBox="true"/>
          <p:nvPr/>
        </p:nvSpPr>
        <p:spPr>
          <a:xfrm rot="0">
            <a:off x="11322101" y="3799437"/>
            <a:ext cx="2628900" cy="233363"/>
          </a:xfrm>
          <a:prstGeom prst="rect">
            <a:avLst/>
          </a:prstGeom>
        </p:spPr>
        <p:txBody>
          <a:bodyPr anchor="t" rtlCol="false" tIns="0" lIns="0" bIns="0" rIns="0">
            <a:spAutoFit/>
          </a:bodyPr>
          <a:lstStyle/>
          <a:p>
            <a:pPr algn="l">
              <a:lnSpc>
                <a:spcPts val="1622"/>
              </a:lnSpc>
            </a:pPr>
            <a:r>
              <a:rPr lang="en-US" sz="1300" b="true">
                <a:solidFill>
                  <a:srgbClr val="FFFFFF"/>
                </a:solidFill>
                <a:latin typeface="Barlow Bold"/>
                <a:ea typeface="Barlow Bold"/>
                <a:cs typeface="Barlow Bold"/>
                <a:sym typeface="Barlow Bold"/>
              </a:rPr>
              <a:t>Categories Analyzed</a:t>
            </a:r>
          </a:p>
        </p:txBody>
      </p:sp>
      <p:sp>
        <p:nvSpPr>
          <p:cNvPr name="TextBox 20" id="20"/>
          <p:cNvSpPr txBox="true"/>
          <p:nvPr/>
        </p:nvSpPr>
        <p:spPr>
          <a:xfrm rot="0">
            <a:off x="11322101" y="4109885"/>
            <a:ext cx="5895232" cy="694134"/>
          </a:xfrm>
          <a:prstGeom prst="rect">
            <a:avLst/>
          </a:prstGeom>
        </p:spPr>
        <p:txBody>
          <a:bodyPr anchor="t" rtlCol="false" tIns="0" lIns="0" bIns="0" rIns="0">
            <a:spAutoFit/>
          </a:bodyPr>
          <a:lstStyle/>
          <a:p>
            <a:pPr algn="l">
              <a:lnSpc>
                <a:spcPts val="1438"/>
              </a:lnSpc>
            </a:pPr>
            <a:r>
              <a:rPr lang="en-US" sz="1200">
                <a:solidFill>
                  <a:srgbClr val="E5E0DF"/>
                </a:solidFill>
                <a:latin typeface="Barlow"/>
                <a:ea typeface="Barlow"/>
                <a:cs typeface="Barlow"/>
                <a:sym typeface="Barlow"/>
              </a:rPr>
              <a:t>• Unemployed individuals</a:t>
            </a:r>
          </a:p>
          <a:p>
            <a:pPr algn="l">
              <a:lnSpc>
                <a:spcPts val="1438"/>
              </a:lnSpc>
            </a:pPr>
            <a:r>
              <a:rPr lang="en-US" sz="1200">
                <a:solidFill>
                  <a:srgbClr val="E5E0DF"/>
                </a:solidFill>
                <a:latin typeface="Barlow"/>
                <a:ea typeface="Barlow"/>
                <a:cs typeface="Barlow"/>
                <a:sym typeface="Barlow"/>
              </a:rPr>
              <a:t>• Employed individuals</a:t>
            </a:r>
          </a:p>
          <a:p>
            <a:pPr algn="l">
              <a:lnSpc>
                <a:spcPts val="1438"/>
              </a:lnSpc>
            </a:pPr>
            <a:r>
              <a:rPr lang="en-US" sz="1200">
                <a:solidFill>
                  <a:srgbClr val="E5E0DF"/>
                </a:solidFill>
                <a:latin typeface="Barlow"/>
                <a:ea typeface="Barlow"/>
                <a:cs typeface="Barlow"/>
                <a:sym typeface="Barlow"/>
              </a:rPr>
              <a:t>• Semi-employed individuals</a:t>
            </a:r>
          </a:p>
        </p:txBody>
      </p:sp>
      <p:sp>
        <p:nvSpPr>
          <p:cNvPr name="TextBox 21" id="21"/>
          <p:cNvSpPr txBox="true"/>
          <p:nvPr/>
        </p:nvSpPr>
        <p:spPr>
          <a:xfrm rot="0">
            <a:off x="1080049" y="9606705"/>
            <a:ext cx="2971800" cy="257023"/>
          </a:xfrm>
          <a:prstGeom prst="rect">
            <a:avLst/>
          </a:prstGeom>
        </p:spPr>
        <p:txBody>
          <a:bodyPr anchor="t" rtlCol="false" tIns="0" lIns="0" bIns="0" rIns="0">
            <a:spAutoFit/>
          </a:bodyPr>
          <a:lstStyle/>
          <a:p>
            <a:pPr algn="l">
              <a:lnSpc>
                <a:spcPts val="1996"/>
              </a:lnSpc>
            </a:pPr>
            <a:r>
              <a:rPr lang="en-US" sz="1600" b="true">
                <a:solidFill>
                  <a:srgbClr val="FFFFFF"/>
                </a:solidFill>
                <a:latin typeface="Barlow Bold"/>
                <a:ea typeface="Barlow Bold"/>
                <a:cs typeface="Barlow Bold"/>
                <a:sym typeface="Barlow Bold"/>
              </a:rPr>
              <a:t>Conclusion</a:t>
            </a:r>
          </a:p>
        </p:txBody>
      </p:sp>
      <p:grpSp>
        <p:nvGrpSpPr>
          <p:cNvPr name="Group 22" id="22"/>
          <p:cNvGrpSpPr/>
          <p:nvPr/>
        </p:nvGrpSpPr>
        <p:grpSpPr>
          <a:xfrm rot="0">
            <a:off x="1080049" y="9979371"/>
            <a:ext cx="19050" cy="358521"/>
            <a:chOff x="0" y="0"/>
            <a:chExt cx="25400" cy="478028"/>
          </a:xfrm>
        </p:grpSpPr>
        <p:sp>
          <p:nvSpPr>
            <p:cNvPr name="Freeform 23" id="23"/>
            <p:cNvSpPr/>
            <p:nvPr/>
          </p:nvSpPr>
          <p:spPr>
            <a:xfrm flipH="false" flipV="false" rot="0">
              <a:off x="0" y="0"/>
              <a:ext cx="25400" cy="478028"/>
            </a:xfrm>
            <a:custGeom>
              <a:avLst/>
              <a:gdLst/>
              <a:ahLst/>
              <a:cxnLst/>
              <a:rect r="r" b="b" t="t" l="l"/>
              <a:pathLst>
                <a:path h="478028" w="25400">
                  <a:moveTo>
                    <a:pt x="0" y="12700"/>
                  </a:moveTo>
                  <a:cubicBezTo>
                    <a:pt x="0" y="5715"/>
                    <a:pt x="5715" y="0"/>
                    <a:pt x="12700" y="0"/>
                  </a:cubicBezTo>
                  <a:cubicBezTo>
                    <a:pt x="19685" y="0"/>
                    <a:pt x="25400" y="5715"/>
                    <a:pt x="25400" y="12700"/>
                  </a:cubicBezTo>
                  <a:lnTo>
                    <a:pt x="25400" y="465328"/>
                  </a:lnTo>
                  <a:cubicBezTo>
                    <a:pt x="25400" y="472313"/>
                    <a:pt x="19685" y="478028"/>
                    <a:pt x="12700" y="478028"/>
                  </a:cubicBezTo>
                  <a:cubicBezTo>
                    <a:pt x="5715" y="478028"/>
                    <a:pt x="0" y="472313"/>
                    <a:pt x="0" y="465328"/>
                  </a:cubicBezTo>
                  <a:close/>
                </a:path>
              </a:pathLst>
            </a:custGeom>
            <a:solidFill>
              <a:srgbClr val="F65F62"/>
            </a:solidFill>
          </p:spPr>
        </p:sp>
      </p:grpSp>
      <p:sp>
        <p:nvSpPr>
          <p:cNvPr name="TextBox 24" id="24"/>
          <p:cNvSpPr txBox="true"/>
          <p:nvPr/>
        </p:nvSpPr>
        <p:spPr>
          <a:xfrm rot="0">
            <a:off x="1311478" y="10066144"/>
            <a:ext cx="16810882" cy="185137"/>
          </a:xfrm>
          <a:prstGeom prst="rect">
            <a:avLst/>
          </a:prstGeom>
        </p:spPr>
        <p:txBody>
          <a:bodyPr anchor="t" rtlCol="false" tIns="0" lIns="0" bIns="0" rIns="0">
            <a:spAutoFit/>
          </a:bodyPr>
          <a:lstStyle/>
          <a:p>
            <a:pPr algn="l">
              <a:lnSpc>
                <a:spcPts val="1438"/>
              </a:lnSpc>
            </a:pPr>
            <a:r>
              <a:rPr lang="en-US" sz="1200">
                <a:solidFill>
                  <a:srgbClr val="E5E0DF"/>
                </a:solidFill>
                <a:latin typeface="Barlow"/>
                <a:ea typeface="Barlow"/>
                <a:cs typeface="Barlow"/>
                <a:sym typeface="Barlow"/>
              </a:rPr>
              <a:t>Unemployment is strongly associated with higher domestic violence cases in the dataset.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91718">
                <a:alpha val="81176"/>
              </a:srgbClr>
            </a:solidFill>
          </p:spPr>
        </p:sp>
      </p:grpSp>
      <p:grpSp>
        <p:nvGrpSpPr>
          <p:cNvPr name="Group 6" id="6"/>
          <p:cNvGrpSpPr/>
          <p:nvPr/>
        </p:nvGrpSpPr>
        <p:grpSpPr>
          <a:xfrm rot="0">
            <a:off x="1080049" y="848620"/>
            <a:ext cx="324231" cy="240506"/>
            <a:chOff x="0" y="0"/>
            <a:chExt cx="432308" cy="320675"/>
          </a:xfrm>
        </p:grpSpPr>
        <p:sp>
          <p:nvSpPr>
            <p:cNvPr name="Freeform 7" id="7"/>
            <p:cNvSpPr/>
            <p:nvPr/>
          </p:nvSpPr>
          <p:spPr>
            <a:xfrm flipH="false" flipV="false" rot="0">
              <a:off x="0" y="0"/>
              <a:ext cx="432308" cy="320675"/>
            </a:xfrm>
            <a:custGeom>
              <a:avLst/>
              <a:gdLst/>
              <a:ahLst/>
              <a:cxnLst/>
              <a:rect r="r" b="b" t="t" l="l"/>
              <a:pathLst>
                <a:path h="320675" w="432308">
                  <a:moveTo>
                    <a:pt x="0" y="69088"/>
                  </a:moveTo>
                  <a:cubicBezTo>
                    <a:pt x="0" y="30988"/>
                    <a:pt x="30988" y="0"/>
                    <a:pt x="69088" y="0"/>
                  </a:cubicBezTo>
                  <a:lnTo>
                    <a:pt x="363220" y="0"/>
                  </a:lnTo>
                  <a:cubicBezTo>
                    <a:pt x="401447" y="0"/>
                    <a:pt x="432308" y="30988"/>
                    <a:pt x="432308" y="69088"/>
                  </a:cubicBezTo>
                  <a:lnTo>
                    <a:pt x="432308" y="251587"/>
                  </a:lnTo>
                  <a:cubicBezTo>
                    <a:pt x="432308" y="289814"/>
                    <a:pt x="401320" y="320675"/>
                    <a:pt x="363220" y="320675"/>
                  </a:cubicBezTo>
                  <a:lnTo>
                    <a:pt x="69088" y="320675"/>
                  </a:lnTo>
                  <a:cubicBezTo>
                    <a:pt x="30988" y="320675"/>
                    <a:pt x="0" y="289687"/>
                    <a:pt x="0" y="251587"/>
                  </a:cubicBezTo>
                  <a:close/>
                </a:path>
              </a:pathLst>
            </a:custGeom>
            <a:solidFill>
              <a:srgbClr val="480405"/>
            </a:solidFill>
          </p:spPr>
        </p:sp>
      </p:grpSp>
      <p:sp>
        <p:nvSpPr>
          <p:cNvPr name="TextBox 8" id="8"/>
          <p:cNvSpPr txBox="true"/>
          <p:nvPr/>
        </p:nvSpPr>
        <p:spPr>
          <a:xfrm rot="0">
            <a:off x="1172613" y="894902"/>
            <a:ext cx="1053551" cy="147933"/>
          </a:xfrm>
          <a:prstGeom prst="rect">
            <a:avLst/>
          </a:prstGeom>
        </p:spPr>
        <p:txBody>
          <a:bodyPr anchor="t" rtlCol="false" tIns="0" lIns="0" bIns="0" rIns="0">
            <a:spAutoFit/>
          </a:bodyPr>
          <a:lstStyle/>
          <a:p>
            <a:pPr algn="l">
              <a:lnSpc>
                <a:spcPts val="1080"/>
              </a:lnSpc>
            </a:pPr>
            <a:r>
              <a:rPr lang="en-US" sz="900">
                <a:solidFill>
                  <a:srgbClr val="E5E0DF"/>
                </a:solidFill>
                <a:latin typeface="Barlow"/>
                <a:ea typeface="Barlow"/>
                <a:cs typeface="Barlow"/>
                <a:sym typeface="Barlow"/>
              </a:rPr>
              <a:t>Q4</a:t>
            </a:r>
          </a:p>
        </p:txBody>
      </p:sp>
      <p:sp>
        <p:nvSpPr>
          <p:cNvPr name="TextBox 9" id="9"/>
          <p:cNvSpPr txBox="true"/>
          <p:nvPr/>
        </p:nvSpPr>
        <p:spPr>
          <a:xfrm rot="0">
            <a:off x="1080049" y="1081830"/>
            <a:ext cx="4369146" cy="466725"/>
          </a:xfrm>
          <a:prstGeom prst="rect">
            <a:avLst/>
          </a:prstGeom>
        </p:spPr>
        <p:txBody>
          <a:bodyPr anchor="t" rtlCol="false" tIns="0" lIns="0" bIns="0" rIns="0">
            <a:spAutoFit/>
          </a:bodyPr>
          <a:lstStyle/>
          <a:p>
            <a:pPr algn="l">
              <a:lnSpc>
                <a:spcPts val="3369"/>
              </a:lnSpc>
            </a:pPr>
            <a:r>
              <a:rPr lang="en-US" sz="2700" b="true">
                <a:solidFill>
                  <a:srgbClr val="FFFFFF"/>
                </a:solidFill>
                <a:latin typeface="Barlow Bold"/>
                <a:ea typeface="Barlow Bold"/>
                <a:cs typeface="Barlow Bold"/>
                <a:sym typeface="Barlow Bold"/>
              </a:rPr>
              <a:t>Effect of Marital Status</a:t>
            </a:r>
          </a:p>
        </p:txBody>
      </p:sp>
      <p:sp>
        <p:nvSpPr>
          <p:cNvPr name="TextBox 10" id="10"/>
          <p:cNvSpPr txBox="true"/>
          <p:nvPr/>
        </p:nvSpPr>
        <p:spPr>
          <a:xfrm rot="0">
            <a:off x="1080049" y="1664198"/>
            <a:ext cx="17042311" cy="185137"/>
          </a:xfrm>
          <a:prstGeom prst="rect">
            <a:avLst/>
          </a:prstGeom>
        </p:spPr>
        <p:txBody>
          <a:bodyPr anchor="t" rtlCol="false" tIns="0" lIns="0" bIns="0" rIns="0">
            <a:spAutoFit/>
          </a:bodyPr>
          <a:lstStyle/>
          <a:p>
            <a:pPr algn="l">
              <a:lnSpc>
                <a:spcPts val="1438"/>
              </a:lnSpc>
            </a:pPr>
            <a:r>
              <a:rPr lang="en-US" sz="1200">
                <a:solidFill>
                  <a:srgbClr val="E5E0DF"/>
                </a:solidFill>
                <a:latin typeface="Barlow"/>
                <a:ea typeface="Barlow"/>
                <a:cs typeface="Barlow"/>
                <a:sym typeface="Barlow"/>
              </a:rPr>
              <a:t>This section analyzes whether marital status influences the occurrence of domestic violence cases among participants.</a:t>
            </a:r>
          </a:p>
        </p:txBody>
      </p:sp>
      <p:grpSp>
        <p:nvGrpSpPr>
          <p:cNvPr name="Group 11" id="11"/>
          <p:cNvGrpSpPr/>
          <p:nvPr/>
        </p:nvGrpSpPr>
        <p:grpSpPr>
          <a:xfrm rot="0">
            <a:off x="1080049" y="2022872"/>
            <a:ext cx="10186416" cy="5709475"/>
            <a:chOff x="0" y="0"/>
            <a:chExt cx="13581888" cy="7612634"/>
          </a:xfrm>
        </p:grpSpPr>
        <p:sp>
          <p:nvSpPr>
            <p:cNvPr name="Freeform 12" id="12" descr="preencoded.png"/>
            <p:cNvSpPr/>
            <p:nvPr/>
          </p:nvSpPr>
          <p:spPr>
            <a:xfrm flipH="false" flipV="false" rot="0">
              <a:off x="0" y="0"/>
              <a:ext cx="13581887" cy="7612634"/>
            </a:xfrm>
            <a:custGeom>
              <a:avLst/>
              <a:gdLst/>
              <a:ahLst/>
              <a:cxnLst/>
              <a:rect r="r" b="b" t="t" l="l"/>
              <a:pathLst>
                <a:path h="7612634" w="13581887">
                  <a:moveTo>
                    <a:pt x="0" y="0"/>
                  </a:moveTo>
                  <a:lnTo>
                    <a:pt x="13581887" y="0"/>
                  </a:lnTo>
                  <a:lnTo>
                    <a:pt x="13581887" y="7612634"/>
                  </a:lnTo>
                  <a:lnTo>
                    <a:pt x="0" y="7612634"/>
                  </a:lnTo>
                  <a:lnTo>
                    <a:pt x="0" y="0"/>
                  </a:lnTo>
                  <a:close/>
                </a:path>
              </a:pathLst>
            </a:custGeom>
            <a:blipFill>
              <a:blip r:embed="rId4"/>
              <a:stretch>
                <a:fillRect l="0" t="-22" r="0" b="-22"/>
              </a:stretch>
            </a:blipFill>
          </p:spPr>
        </p:sp>
      </p:grpSp>
      <p:sp>
        <p:nvSpPr>
          <p:cNvPr name="TextBox 13" id="13"/>
          <p:cNvSpPr txBox="true"/>
          <p:nvPr/>
        </p:nvSpPr>
        <p:spPr>
          <a:xfrm rot="0">
            <a:off x="11652199" y="2013194"/>
            <a:ext cx="2971800" cy="257023"/>
          </a:xfrm>
          <a:prstGeom prst="rect">
            <a:avLst/>
          </a:prstGeom>
        </p:spPr>
        <p:txBody>
          <a:bodyPr anchor="t" rtlCol="false" tIns="0" lIns="0" bIns="0" rIns="0">
            <a:spAutoFit/>
          </a:bodyPr>
          <a:lstStyle/>
          <a:p>
            <a:pPr algn="l">
              <a:lnSpc>
                <a:spcPts val="1996"/>
              </a:lnSpc>
            </a:pPr>
            <a:r>
              <a:rPr lang="en-US" sz="1600" b="true">
                <a:solidFill>
                  <a:srgbClr val="FFFFFF"/>
                </a:solidFill>
                <a:latin typeface="Barlow Bold"/>
                <a:ea typeface="Barlow Bold"/>
                <a:cs typeface="Barlow Bold"/>
                <a:sym typeface="Barlow Bold"/>
              </a:rPr>
              <a:t>Groups Compared</a:t>
            </a:r>
          </a:p>
        </p:txBody>
      </p:sp>
      <p:sp>
        <p:nvSpPr>
          <p:cNvPr name="TextBox 14" id="14"/>
          <p:cNvSpPr txBox="true"/>
          <p:nvPr/>
        </p:nvSpPr>
        <p:spPr>
          <a:xfrm rot="0">
            <a:off x="11652199" y="2347322"/>
            <a:ext cx="5565134" cy="439636"/>
          </a:xfrm>
          <a:prstGeom prst="rect">
            <a:avLst/>
          </a:prstGeom>
        </p:spPr>
        <p:txBody>
          <a:bodyPr anchor="t" rtlCol="false" tIns="0" lIns="0" bIns="0" rIns="0">
            <a:spAutoFit/>
          </a:bodyPr>
          <a:lstStyle/>
          <a:p>
            <a:pPr algn="l">
              <a:lnSpc>
                <a:spcPts val="1438"/>
              </a:lnSpc>
            </a:pPr>
            <a:r>
              <a:rPr lang="en-US" sz="1200">
                <a:solidFill>
                  <a:srgbClr val="E5E0DF"/>
                </a:solidFill>
                <a:latin typeface="Barlow"/>
                <a:ea typeface="Barlow"/>
                <a:cs typeface="Barlow"/>
                <a:sym typeface="Barlow"/>
              </a:rPr>
              <a:t>• Married individuals</a:t>
            </a:r>
          </a:p>
          <a:p>
            <a:pPr algn="l">
              <a:lnSpc>
                <a:spcPts val="1438"/>
              </a:lnSpc>
            </a:pPr>
            <a:r>
              <a:rPr lang="en-US" sz="1200">
                <a:solidFill>
                  <a:srgbClr val="E5E0DF"/>
                </a:solidFill>
                <a:latin typeface="Barlow"/>
                <a:ea typeface="Barlow"/>
                <a:cs typeface="Barlow"/>
                <a:sym typeface="Barlow"/>
              </a:rPr>
              <a:t>• Unmarried individuals</a:t>
            </a:r>
          </a:p>
        </p:txBody>
      </p:sp>
      <p:sp>
        <p:nvSpPr>
          <p:cNvPr name="TextBox 15" id="15"/>
          <p:cNvSpPr txBox="true"/>
          <p:nvPr/>
        </p:nvSpPr>
        <p:spPr>
          <a:xfrm rot="0">
            <a:off x="11652199" y="2864044"/>
            <a:ext cx="2971800" cy="257023"/>
          </a:xfrm>
          <a:prstGeom prst="rect">
            <a:avLst/>
          </a:prstGeom>
        </p:spPr>
        <p:txBody>
          <a:bodyPr anchor="t" rtlCol="false" tIns="0" lIns="0" bIns="0" rIns="0">
            <a:spAutoFit/>
          </a:bodyPr>
          <a:lstStyle/>
          <a:p>
            <a:pPr algn="l">
              <a:lnSpc>
                <a:spcPts val="1996"/>
              </a:lnSpc>
            </a:pPr>
            <a:r>
              <a:rPr lang="en-US" sz="1600" b="true">
                <a:solidFill>
                  <a:srgbClr val="FFFFFF"/>
                </a:solidFill>
                <a:latin typeface="Barlow Bold"/>
                <a:ea typeface="Barlow Bold"/>
                <a:cs typeface="Barlow Bold"/>
                <a:sym typeface="Barlow Bold"/>
              </a:rPr>
              <a:t>Analysis Focus</a:t>
            </a:r>
          </a:p>
        </p:txBody>
      </p:sp>
      <p:sp>
        <p:nvSpPr>
          <p:cNvPr name="TextBox 16" id="16"/>
          <p:cNvSpPr txBox="true"/>
          <p:nvPr/>
        </p:nvSpPr>
        <p:spPr>
          <a:xfrm rot="0">
            <a:off x="11652199" y="3198171"/>
            <a:ext cx="5565134" cy="740569"/>
          </a:xfrm>
          <a:prstGeom prst="rect">
            <a:avLst/>
          </a:prstGeom>
        </p:spPr>
        <p:txBody>
          <a:bodyPr anchor="t" rtlCol="false" tIns="0" lIns="0" bIns="0" rIns="0">
            <a:spAutoFit/>
          </a:bodyPr>
          <a:lstStyle/>
          <a:p>
            <a:pPr algn="l">
              <a:lnSpc>
                <a:spcPts val="1438"/>
              </a:lnSpc>
            </a:pPr>
            <a:r>
              <a:rPr lang="en-US" sz="1200">
                <a:solidFill>
                  <a:srgbClr val="E5E0DF"/>
                </a:solidFill>
                <a:latin typeface="Barlow"/>
                <a:ea typeface="Barlow"/>
                <a:cs typeface="Barlow"/>
                <a:sym typeface="Barlow"/>
              </a:rPr>
              <a:t>• Compare domestic violence cases between married and unmarried individuals.</a:t>
            </a:r>
          </a:p>
          <a:p>
            <a:pPr algn="l">
              <a:lnSpc>
                <a:spcPts val="1438"/>
              </a:lnSpc>
            </a:pPr>
            <a:r>
              <a:rPr lang="en-US" sz="1200">
                <a:solidFill>
                  <a:srgbClr val="E5E0DF"/>
                </a:solidFill>
                <a:latin typeface="Barlow"/>
                <a:ea typeface="Barlow"/>
                <a:cs typeface="Barlow"/>
                <a:sym typeface="Barlow"/>
              </a:rPr>
              <a:t>• Identify the marital group with the highest number of cases.</a:t>
            </a:r>
          </a:p>
          <a:p>
            <a:pPr algn="l">
              <a:lnSpc>
                <a:spcPts val="1438"/>
              </a:lnSpc>
            </a:pPr>
            <a:r>
              <a:rPr lang="en-US" sz="1200">
                <a:solidFill>
                  <a:srgbClr val="E5E0DF"/>
                </a:solidFill>
                <a:latin typeface="Barlow"/>
                <a:ea typeface="Barlow"/>
                <a:cs typeface="Barlow"/>
                <a:sym typeface="Barlow"/>
              </a:rPr>
              <a:t>• Analyze the relationship between marital status and violence.</a:t>
            </a:r>
          </a:p>
          <a:p>
            <a:pPr algn="l">
              <a:lnSpc>
                <a:spcPts val="1438"/>
              </a:lnSpc>
            </a:pPr>
            <a:r>
              <a:rPr lang="en-US" sz="1200">
                <a:solidFill>
                  <a:srgbClr val="E5E0DF"/>
                </a:solidFill>
                <a:latin typeface="Barlow"/>
                <a:ea typeface="Barlow"/>
                <a:cs typeface="Barlow"/>
                <a:sym typeface="Barlow"/>
              </a:rPr>
              <a:t>• Support data-driven social interventions.</a:t>
            </a:r>
          </a:p>
        </p:txBody>
      </p:sp>
      <p:sp>
        <p:nvSpPr>
          <p:cNvPr name="TextBox 17" id="17"/>
          <p:cNvSpPr txBox="true"/>
          <p:nvPr/>
        </p:nvSpPr>
        <p:spPr>
          <a:xfrm rot="0">
            <a:off x="1080049" y="7934773"/>
            <a:ext cx="2971800" cy="257023"/>
          </a:xfrm>
          <a:prstGeom prst="rect">
            <a:avLst/>
          </a:prstGeom>
        </p:spPr>
        <p:txBody>
          <a:bodyPr anchor="t" rtlCol="false" tIns="0" lIns="0" bIns="0" rIns="0">
            <a:spAutoFit/>
          </a:bodyPr>
          <a:lstStyle/>
          <a:p>
            <a:pPr algn="l">
              <a:lnSpc>
                <a:spcPts val="1996"/>
              </a:lnSpc>
            </a:pPr>
            <a:r>
              <a:rPr lang="en-US" sz="1600" b="true">
                <a:solidFill>
                  <a:srgbClr val="FFFFFF"/>
                </a:solidFill>
                <a:latin typeface="Barlow Bold"/>
                <a:ea typeface="Barlow Bold"/>
                <a:cs typeface="Barlow Bold"/>
                <a:sym typeface="Barlow Bold"/>
              </a:rPr>
              <a:t>Key Findings</a:t>
            </a:r>
          </a:p>
        </p:txBody>
      </p:sp>
      <p:sp>
        <p:nvSpPr>
          <p:cNvPr name="TextBox 18" id="18"/>
          <p:cNvSpPr txBox="true"/>
          <p:nvPr/>
        </p:nvSpPr>
        <p:spPr>
          <a:xfrm rot="0">
            <a:off x="1080049" y="8307438"/>
            <a:ext cx="16127911" cy="1000868"/>
          </a:xfrm>
          <a:prstGeom prst="rect">
            <a:avLst/>
          </a:prstGeom>
        </p:spPr>
        <p:txBody>
          <a:bodyPr anchor="t" rtlCol="false" tIns="0" lIns="0" bIns="0" rIns="0">
            <a:spAutoFit/>
          </a:bodyPr>
          <a:lstStyle/>
          <a:p>
            <a:pPr algn="l">
              <a:lnSpc>
                <a:spcPts val="1438"/>
              </a:lnSpc>
            </a:pPr>
            <a:r>
              <a:rPr lang="en-US" sz="1200">
                <a:solidFill>
                  <a:srgbClr val="E5E0DF"/>
                </a:solidFill>
                <a:latin typeface="Barlow"/>
                <a:ea typeface="Barlow"/>
                <a:cs typeface="Barlow"/>
                <a:sym typeface="Barlow"/>
              </a:rPr>
              <a:t>• Married individuals reported </a:t>
            </a:r>
            <a:r>
              <a:rPr lang="en-US" sz="1200" b="true">
                <a:solidFill>
                  <a:srgbClr val="E5E0DF"/>
                </a:solidFill>
                <a:latin typeface="Barlow Bold"/>
                <a:ea typeface="Barlow Bold"/>
                <a:cs typeface="Barlow Bold"/>
                <a:sym typeface="Barlow Bold"/>
              </a:rPr>
              <a:t>83 cases (96.51%)</a:t>
            </a:r>
            <a:r>
              <a:rPr lang="en-US" sz="1200">
                <a:solidFill>
                  <a:srgbClr val="E5E0DF"/>
                </a:solidFill>
                <a:latin typeface="Barlow"/>
                <a:ea typeface="Barlow"/>
                <a:cs typeface="Barlow"/>
                <a:sym typeface="Barlow"/>
              </a:rPr>
              <a:t>.</a:t>
            </a:r>
          </a:p>
          <a:p>
            <a:pPr algn="l">
              <a:lnSpc>
                <a:spcPts val="1438"/>
              </a:lnSpc>
            </a:pPr>
            <a:r>
              <a:rPr lang="en-US" sz="1200">
                <a:solidFill>
                  <a:srgbClr val="E5E0DF"/>
                </a:solidFill>
                <a:latin typeface="Barlow"/>
                <a:ea typeface="Barlow"/>
                <a:cs typeface="Barlow"/>
                <a:sym typeface="Barlow"/>
              </a:rPr>
              <a:t>• Unmarried individuals reported </a:t>
            </a:r>
            <a:r>
              <a:rPr lang="en-US" sz="1200" b="true">
                <a:solidFill>
                  <a:srgbClr val="E5E0DF"/>
                </a:solidFill>
                <a:latin typeface="Barlow Bold"/>
                <a:ea typeface="Barlow Bold"/>
                <a:cs typeface="Barlow Bold"/>
                <a:sym typeface="Barlow Bold"/>
              </a:rPr>
              <a:t>3 cases (3.49%)</a:t>
            </a:r>
            <a:r>
              <a:rPr lang="en-US" sz="1200">
                <a:solidFill>
                  <a:srgbClr val="E5E0DF"/>
                </a:solidFill>
                <a:latin typeface="Barlow"/>
                <a:ea typeface="Barlow"/>
                <a:cs typeface="Barlow"/>
                <a:sym typeface="Barlow"/>
              </a:rPr>
              <a:t>.</a:t>
            </a:r>
          </a:p>
          <a:p>
            <a:pPr algn="l">
              <a:lnSpc>
                <a:spcPts val="1438"/>
              </a:lnSpc>
            </a:pPr>
            <a:r>
              <a:rPr lang="en-US" sz="1200">
                <a:solidFill>
                  <a:srgbClr val="E5E0DF"/>
                </a:solidFill>
                <a:latin typeface="Barlow"/>
                <a:ea typeface="Barlow"/>
                <a:cs typeface="Barlow"/>
                <a:sym typeface="Barlow"/>
              </a:rPr>
              <a:t>• Married participants accounted for the majority of reported cases.</a:t>
            </a:r>
          </a:p>
          <a:p>
            <a:pPr algn="l">
              <a:lnSpc>
                <a:spcPts val="1438"/>
              </a:lnSpc>
            </a:pPr>
            <a:r>
              <a:rPr lang="en-US" sz="1200">
                <a:solidFill>
                  <a:srgbClr val="E5E0DF"/>
                </a:solidFill>
                <a:latin typeface="Barlow"/>
                <a:ea typeface="Barlow"/>
                <a:cs typeface="Barlow"/>
                <a:sym typeface="Barlow"/>
              </a:rPr>
              <a:t>• Marital status appears to influence domestic violence distribution.</a:t>
            </a:r>
          </a:p>
        </p:txBody>
      </p:sp>
      <p:sp>
        <p:nvSpPr>
          <p:cNvPr name="TextBox 19" id="19"/>
          <p:cNvSpPr txBox="true"/>
          <p:nvPr/>
        </p:nvSpPr>
        <p:spPr>
          <a:xfrm rot="0">
            <a:off x="1080049" y="9423949"/>
            <a:ext cx="2971800" cy="257023"/>
          </a:xfrm>
          <a:prstGeom prst="rect">
            <a:avLst/>
          </a:prstGeom>
        </p:spPr>
        <p:txBody>
          <a:bodyPr anchor="t" rtlCol="false" tIns="0" lIns="0" bIns="0" rIns="0">
            <a:spAutoFit/>
          </a:bodyPr>
          <a:lstStyle/>
          <a:p>
            <a:pPr algn="l">
              <a:lnSpc>
                <a:spcPts val="1996"/>
              </a:lnSpc>
            </a:pPr>
            <a:r>
              <a:rPr lang="en-US" sz="1600" b="true">
                <a:solidFill>
                  <a:srgbClr val="FFFFFF"/>
                </a:solidFill>
                <a:latin typeface="Barlow Bold"/>
                <a:ea typeface="Barlow Bold"/>
                <a:cs typeface="Barlow Bold"/>
                <a:sym typeface="Barlow Bold"/>
              </a:rPr>
              <a:t>Conclusion</a:t>
            </a:r>
          </a:p>
        </p:txBody>
      </p:sp>
      <p:grpSp>
        <p:nvGrpSpPr>
          <p:cNvPr name="Group 20" id="20"/>
          <p:cNvGrpSpPr/>
          <p:nvPr/>
        </p:nvGrpSpPr>
        <p:grpSpPr>
          <a:xfrm rot="0">
            <a:off x="1080049" y="9796615"/>
            <a:ext cx="19050" cy="358521"/>
            <a:chOff x="0" y="0"/>
            <a:chExt cx="25400" cy="478028"/>
          </a:xfrm>
        </p:grpSpPr>
        <p:sp>
          <p:nvSpPr>
            <p:cNvPr name="Freeform 21" id="21"/>
            <p:cNvSpPr/>
            <p:nvPr/>
          </p:nvSpPr>
          <p:spPr>
            <a:xfrm flipH="false" flipV="false" rot="0">
              <a:off x="0" y="0"/>
              <a:ext cx="25400" cy="478028"/>
            </a:xfrm>
            <a:custGeom>
              <a:avLst/>
              <a:gdLst/>
              <a:ahLst/>
              <a:cxnLst/>
              <a:rect r="r" b="b" t="t" l="l"/>
              <a:pathLst>
                <a:path h="478028" w="25400">
                  <a:moveTo>
                    <a:pt x="0" y="12700"/>
                  </a:moveTo>
                  <a:cubicBezTo>
                    <a:pt x="0" y="5715"/>
                    <a:pt x="5715" y="0"/>
                    <a:pt x="12700" y="0"/>
                  </a:cubicBezTo>
                  <a:cubicBezTo>
                    <a:pt x="19685" y="0"/>
                    <a:pt x="25400" y="5715"/>
                    <a:pt x="25400" y="12700"/>
                  </a:cubicBezTo>
                  <a:lnTo>
                    <a:pt x="25400" y="465328"/>
                  </a:lnTo>
                  <a:cubicBezTo>
                    <a:pt x="25400" y="472313"/>
                    <a:pt x="19685" y="478028"/>
                    <a:pt x="12700" y="478028"/>
                  </a:cubicBezTo>
                  <a:cubicBezTo>
                    <a:pt x="5715" y="478028"/>
                    <a:pt x="0" y="472313"/>
                    <a:pt x="0" y="465328"/>
                  </a:cubicBezTo>
                  <a:close/>
                </a:path>
              </a:pathLst>
            </a:custGeom>
            <a:solidFill>
              <a:srgbClr val="F65F62"/>
            </a:solidFill>
          </p:spPr>
        </p:sp>
      </p:grpSp>
      <p:sp>
        <p:nvSpPr>
          <p:cNvPr name="TextBox 22" id="22"/>
          <p:cNvSpPr txBox="true"/>
          <p:nvPr/>
        </p:nvSpPr>
        <p:spPr>
          <a:xfrm rot="0">
            <a:off x="1311478" y="9883378"/>
            <a:ext cx="16810882" cy="185137"/>
          </a:xfrm>
          <a:prstGeom prst="rect">
            <a:avLst/>
          </a:prstGeom>
        </p:spPr>
        <p:txBody>
          <a:bodyPr anchor="t" rtlCol="false" tIns="0" lIns="0" bIns="0" rIns="0">
            <a:spAutoFit/>
          </a:bodyPr>
          <a:lstStyle/>
          <a:p>
            <a:pPr algn="l">
              <a:lnSpc>
                <a:spcPts val="1438"/>
              </a:lnSpc>
            </a:pPr>
            <a:r>
              <a:rPr lang="en-US" sz="1200">
                <a:solidFill>
                  <a:srgbClr val="E5E0DF"/>
                </a:solidFill>
                <a:latin typeface="Barlow"/>
                <a:ea typeface="Barlow"/>
                <a:cs typeface="Barlow"/>
                <a:sym typeface="Barlow"/>
              </a:rPr>
              <a:t>The analysis indicates that married individuals experienced significantly higher domestic violence cases compared to unmarried individuals, making marital status an important factor in understanding domestic violence patterns.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91718">
                <a:alpha val="81176"/>
              </a:srgbClr>
            </a:solidFill>
          </p:spPr>
        </p:sp>
      </p:grpSp>
      <p:grpSp>
        <p:nvGrpSpPr>
          <p:cNvPr name="Group 6" id="6"/>
          <p:cNvGrpSpPr/>
          <p:nvPr/>
        </p:nvGrpSpPr>
        <p:grpSpPr>
          <a:xfrm rot="0">
            <a:off x="1080049" y="848620"/>
            <a:ext cx="319659" cy="240506"/>
            <a:chOff x="0" y="0"/>
            <a:chExt cx="426212" cy="320675"/>
          </a:xfrm>
        </p:grpSpPr>
        <p:sp>
          <p:nvSpPr>
            <p:cNvPr name="Freeform 7" id="7"/>
            <p:cNvSpPr/>
            <p:nvPr/>
          </p:nvSpPr>
          <p:spPr>
            <a:xfrm flipH="false" flipV="false" rot="0">
              <a:off x="0" y="0"/>
              <a:ext cx="426212" cy="320675"/>
            </a:xfrm>
            <a:custGeom>
              <a:avLst/>
              <a:gdLst/>
              <a:ahLst/>
              <a:cxnLst/>
              <a:rect r="r" b="b" t="t" l="l"/>
              <a:pathLst>
                <a:path h="320675" w="426212">
                  <a:moveTo>
                    <a:pt x="0" y="69088"/>
                  </a:moveTo>
                  <a:cubicBezTo>
                    <a:pt x="0" y="30988"/>
                    <a:pt x="30988" y="0"/>
                    <a:pt x="69088" y="0"/>
                  </a:cubicBezTo>
                  <a:lnTo>
                    <a:pt x="357124" y="0"/>
                  </a:lnTo>
                  <a:cubicBezTo>
                    <a:pt x="395351" y="0"/>
                    <a:pt x="426212" y="30988"/>
                    <a:pt x="426212" y="69088"/>
                  </a:cubicBezTo>
                  <a:lnTo>
                    <a:pt x="426212" y="251587"/>
                  </a:lnTo>
                  <a:cubicBezTo>
                    <a:pt x="426212" y="289814"/>
                    <a:pt x="395224" y="320675"/>
                    <a:pt x="357124" y="320675"/>
                  </a:cubicBezTo>
                  <a:lnTo>
                    <a:pt x="69088" y="320675"/>
                  </a:lnTo>
                  <a:cubicBezTo>
                    <a:pt x="30988" y="320675"/>
                    <a:pt x="0" y="289687"/>
                    <a:pt x="0" y="251587"/>
                  </a:cubicBezTo>
                  <a:close/>
                </a:path>
              </a:pathLst>
            </a:custGeom>
            <a:solidFill>
              <a:srgbClr val="480405"/>
            </a:solidFill>
          </p:spPr>
        </p:sp>
      </p:grpSp>
      <p:sp>
        <p:nvSpPr>
          <p:cNvPr name="TextBox 8" id="8"/>
          <p:cNvSpPr txBox="true"/>
          <p:nvPr/>
        </p:nvSpPr>
        <p:spPr>
          <a:xfrm rot="0">
            <a:off x="1172613" y="894902"/>
            <a:ext cx="1048941" cy="147933"/>
          </a:xfrm>
          <a:prstGeom prst="rect">
            <a:avLst/>
          </a:prstGeom>
        </p:spPr>
        <p:txBody>
          <a:bodyPr anchor="t" rtlCol="false" tIns="0" lIns="0" bIns="0" rIns="0">
            <a:spAutoFit/>
          </a:bodyPr>
          <a:lstStyle/>
          <a:p>
            <a:pPr algn="l">
              <a:lnSpc>
                <a:spcPts val="1080"/>
              </a:lnSpc>
            </a:pPr>
            <a:r>
              <a:rPr lang="en-US" sz="900">
                <a:solidFill>
                  <a:srgbClr val="E5E0DF"/>
                </a:solidFill>
                <a:latin typeface="Barlow"/>
                <a:ea typeface="Barlow"/>
                <a:cs typeface="Barlow"/>
                <a:sym typeface="Barlow"/>
              </a:rPr>
              <a:t>Q5</a:t>
            </a:r>
          </a:p>
        </p:txBody>
      </p:sp>
      <p:sp>
        <p:nvSpPr>
          <p:cNvPr name="TextBox 9" id="9"/>
          <p:cNvSpPr txBox="true"/>
          <p:nvPr/>
        </p:nvSpPr>
        <p:spPr>
          <a:xfrm rot="0">
            <a:off x="1080049" y="1081830"/>
            <a:ext cx="4689424" cy="466725"/>
          </a:xfrm>
          <a:prstGeom prst="rect">
            <a:avLst/>
          </a:prstGeom>
        </p:spPr>
        <p:txBody>
          <a:bodyPr anchor="t" rtlCol="false" tIns="0" lIns="0" bIns="0" rIns="0">
            <a:spAutoFit/>
          </a:bodyPr>
          <a:lstStyle/>
          <a:p>
            <a:pPr algn="l">
              <a:lnSpc>
                <a:spcPts val="3369"/>
              </a:lnSpc>
            </a:pPr>
            <a:r>
              <a:rPr lang="en-US" sz="2700" b="true">
                <a:solidFill>
                  <a:srgbClr val="FFFFFF"/>
                </a:solidFill>
                <a:latin typeface="Barlow Bold"/>
                <a:ea typeface="Barlow Bold"/>
                <a:cs typeface="Barlow Bold"/>
                <a:sym typeface="Barlow Bold"/>
              </a:rPr>
              <a:t>Effect of Education Level</a:t>
            </a:r>
          </a:p>
        </p:txBody>
      </p:sp>
      <p:sp>
        <p:nvSpPr>
          <p:cNvPr name="TextBox 10" id="10"/>
          <p:cNvSpPr txBox="true"/>
          <p:nvPr/>
        </p:nvSpPr>
        <p:spPr>
          <a:xfrm rot="0">
            <a:off x="1080049" y="1664198"/>
            <a:ext cx="17042311" cy="185137"/>
          </a:xfrm>
          <a:prstGeom prst="rect">
            <a:avLst/>
          </a:prstGeom>
        </p:spPr>
        <p:txBody>
          <a:bodyPr anchor="t" rtlCol="false" tIns="0" lIns="0" bIns="0" rIns="0">
            <a:spAutoFit/>
          </a:bodyPr>
          <a:lstStyle/>
          <a:p>
            <a:pPr algn="l">
              <a:lnSpc>
                <a:spcPts val="1438"/>
              </a:lnSpc>
            </a:pPr>
            <a:r>
              <a:rPr lang="en-US" sz="1200">
                <a:solidFill>
                  <a:srgbClr val="E5E0DF"/>
                </a:solidFill>
                <a:latin typeface="Barlow"/>
                <a:ea typeface="Barlow"/>
                <a:cs typeface="Barlow"/>
                <a:sym typeface="Barlow"/>
              </a:rPr>
              <a:t>Education level is analyzed to understand its relationship with domestic violence reporting rates across different literacy and qualification tiers.</a:t>
            </a:r>
          </a:p>
        </p:txBody>
      </p:sp>
      <p:grpSp>
        <p:nvGrpSpPr>
          <p:cNvPr name="Group 11" id="11"/>
          <p:cNvGrpSpPr/>
          <p:nvPr/>
        </p:nvGrpSpPr>
        <p:grpSpPr>
          <a:xfrm rot="0">
            <a:off x="1080049" y="2022872"/>
            <a:ext cx="9526143" cy="5346668"/>
            <a:chOff x="0" y="0"/>
            <a:chExt cx="12701524" cy="7128891"/>
          </a:xfrm>
        </p:grpSpPr>
        <p:sp>
          <p:nvSpPr>
            <p:cNvPr name="Freeform 12" id="12" descr="preencoded.png"/>
            <p:cNvSpPr/>
            <p:nvPr/>
          </p:nvSpPr>
          <p:spPr>
            <a:xfrm flipH="false" flipV="false" rot="0">
              <a:off x="0" y="0"/>
              <a:ext cx="12701524" cy="7128891"/>
            </a:xfrm>
            <a:custGeom>
              <a:avLst/>
              <a:gdLst/>
              <a:ahLst/>
              <a:cxnLst/>
              <a:rect r="r" b="b" t="t" l="l"/>
              <a:pathLst>
                <a:path h="7128891" w="12701524">
                  <a:moveTo>
                    <a:pt x="0" y="0"/>
                  </a:moveTo>
                  <a:lnTo>
                    <a:pt x="12701524" y="0"/>
                  </a:lnTo>
                  <a:lnTo>
                    <a:pt x="12701524" y="7128891"/>
                  </a:lnTo>
                  <a:lnTo>
                    <a:pt x="0" y="7128891"/>
                  </a:lnTo>
                  <a:lnTo>
                    <a:pt x="0" y="0"/>
                  </a:lnTo>
                  <a:close/>
                </a:path>
              </a:pathLst>
            </a:custGeom>
            <a:blipFill>
              <a:blip r:embed="rId4"/>
              <a:stretch>
                <a:fillRect l="0" t="-26" r="0" b="-26"/>
              </a:stretch>
            </a:blipFill>
          </p:spPr>
        </p:sp>
      </p:grpSp>
      <p:sp>
        <p:nvSpPr>
          <p:cNvPr name="TextBox 13" id="13"/>
          <p:cNvSpPr txBox="true"/>
          <p:nvPr/>
        </p:nvSpPr>
        <p:spPr>
          <a:xfrm rot="0">
            <a:off x="1080049" y="7418194"/>
            <a:ext cx="4343400" cy="466725"/>
          </a:xfrm>
          <a:prstGeom prst="rect">
            <a:avLst/>
          </a:prstGeom>
        </p:spPr>
        <p:txBody>
          <a:bodyPr anchor="t" rtlCol="false" tIns="0" lIns="0" bIns="0" rIns="0">
            <a:spAutoFit/>
          </a:bodyPr>
          <a:lstStyle/>
          <a:p>
            <a:pPr algn="l">
              <a:lnSpc>
                <a:spcPts val="3369"/>
              </a:lnSpc>
            </a:pPr>
            <a:r>
              <a:rPr lang="en-US" sz="2700" b="true">
                <a:solidFill>
                  <a:srgbClr val="FFFFFF"/>
                </a:solidFill>
                <a:latin typeface="Barlow Bold"/>
                <a:ea typeface="Barlow Bold"/>
                <a:cs typeface="Barlow Bold"/>
                <a:sym typeface="Barlow Bold"/>
              </a:rPr>
              <a:t>Key Findings</a:t>
            </a:r>
          </a:p>
        </p:txBody>
      </p:sp>
      <p:sp>
        <p:nvSpPr>
          <p:cNvPr name="TextBox 14" id="14"/>
          <p:cNvSpPr txBox="true"/>
          <p:nvPr/>
        </p:nvSpPr>
        <p:spPr>
          <a:xfrm rot="0">
            <a:off x="1080049" y="7962005"/>
            <a:ext cx="9526191" cy="1203122"/>
          </a:xfrm>
          <a:prstGeom prst="rect">
            <a:avLst/>
          </a:prstGeom>
        </p:spPr>
        <p:txBody>
          <a:bodyPr anchor="t" rtlCol="false" tIns="0" lIns="0" bIns="0" rIns="0">
            <a:spAutoFit/>
          </a:bodyPr>
          <a:lstStyle/>
          <a:p>
            <a:pPr algn="l">
              <a:lnSpc>
                <a:spcPts val="1438"/>
              </a:lnSpc>
            </a:pPr>
            <a:r>
              <a:rPr lang="en-US" sz="1200">
                <a:solidFill>
                  <a:srgbClr val="E5E0DF"/>
                </a:solidFill>
                <a:latin typeface="Barlow"/>
                <a:ea typeface="Barlow"/>
                <a:cs typeface="Barlow"/>
                <a:sym typeface="Barlow"/>
              </a:rPr>
              <a:t>• Primary education reported </a:t>
            </a:r>
            <a:r>
              <a:rPr lang="en-US" sz="1200" b="true">
                <a:solidFill>
                  <a:srgbClr val="E5E0DF"/>
                </a:solidFill>
                <a:latin typeface="Barlow Bold"/>
                <a:ea typeface="Barlow Bold"/>
                <a:cs typeface="Barlow Bold"/>
                <a:sym typeface="Barlow Bold"/>
              </a:rPr>
              <a:t>45 cases (52.33%)</a:t>
            </a:r>
            <a:r>
              <a:rPr lang="en-US" sz="1200">
                <a:solidFill>
                  <a:srgbClr val="E5E0DF"/>
                </a:solidFill>
                <a:latin typeface="Barlow"/>
                <a:ea typeface="Barlow"/>
                <a:cs typeface="Barlow"/>
                <a:sym typeface="Barlow"/>
              </a:rPr>
              <a:t>.</a:t>
            </a:r>
          </a:p>
          <a:p>
            <a:pPr algn="l">
              <a:lnSpc>
                <a:spcPts val="1438"/>
              </a:lnSpc>
            </a:pPr>
            <a:r>
              <a:rPr lang="en-US" sz="1200">
                <a:solidFill>
                  <a:srgbClr val="E5E0DF"/>
                </a:solidFill>
                <a:latin typeface="Barlow"/>
                <a:ea typeface="Barlow"/>
                <a:cs typeface="Barlow"/>
                <a:sym typeface="Barlow"/>
              </a:rPr>
              <a:t>• Secondary education reported </a:t>
            </a:r>
            <a:r>
              <a:rPr lang="en-US" sz="1200" b="true">
                <a:solidFill>
                  <a:srgbClr val="E5E0DF"/>
                </a:solidFill>
                <a:latin typeface="Barlow Bold"/>
                <a:ea typeface="Barlow Bold"/>
                <a:cs typeface="Barlow Bold"/>
                <a:sym typeface="Barlow Bold"/>
              </a:rPr>
              <a:t>20 cases (23.26%)</a:t>
            </a:r>
            <a:r>
              <a:rPr lang="en-US" sz="1200">
                <a:solidFill>
                  <a:srgbClr val="E5E0DF"/>
                </a:solidFill>
                <a:latin typeface="Barlow"/>
                <a:ea typeface="Barlow"/>
                <a:cs typeface="Barlow"/>
                <a:sym typeface="Barlow"/>
              </a:rPr>
              <a:t>.</a:t>
            </a:r>
          </a:p>
          <a:p>
            <a:pPr algn="l">
              <a:lnSpc>
                <a:spcPts val="1438"/>
              </a:lnSpc>
            </a:pPr>
            <a:r>
              <a:rPr lang="en-US" sz="1200">
                <a:solidFill>
                  <a:srgbClr val="E5E0DF"/>
                </a:solidFill>
                <a:latin typeface="Barlow"/>
                <a:ea typeface="Barlow"/>
                <a:cs typeface="Barlow"/>
                <a:sym typeface="Barlow"/>
              </a:rPr>
              <a:t>• No formal education reported </a:t>
            </a:r>
            <a:r>
              <a:rPr lang="en-US" sz="1200" b="true">
                <a:solidFill>
                  <a:srgbClr val="E5E0DF"/>
                </a:solidFill>
                <a:latin typeface="Barlow Bold"/>
                <a:ea typeface="Barlow Bold"/>
                <a:cs typeface="Barlow Bold"/>
                <a:sym typeface="Barlow Bold"/>
              </a:rPr>
              <a:t>12 cases (13.95%)</a:t>
            </a:r>
            <a:r>
              <a:rPr lang="en-US" sz="1200">
                <a:solidFill>
                  <a:srgbClr val="E5E0DF"/>
                </a:solidFill>
                <a:latin typeface="Barlow"/>
                <a:ea typeface="Barlow"/>
                <a:cs typeface="Barlow"/>
                <a:sym typeface="Barlow"/>
              </a:rPr>
              <a:t>.</a:t>
            </a:r>
          </a:p>
          <a:p>
            <a:pPr algn="l">
              <a:lnSpc>
                <a:spcPts val="1438"/>
              </a:lnSpc>
            </a:pPr>
            <a:r>
              <a:rPr lang="en-US" sz="1200">
                <a:solidFill>
                  <a:srgbClr val="E5E0DF"/>
                </a:solidFill>
                <a:latin typeface="Barlow"/>
                <a:ea typeface="Barlow"/>
                <a:cs typeface="Barlow"/>
                <a:sym typeface="Barlow"/>
              </a:rPr>
              <a:t>• Tertiary education reported </a:t>
            </a:r>
            <a:r>
              <a:rPr lang="en-US" sz="1200" b="true">
                <a:solidFill>
                  <a:srgbClr val="E5E0DF"/>
                </a:solidFill>
                <a:latin typeface="Barlow Bold"/>
                <a:ea typeface="Barlow Bold"/>
                <a:cs typeface="Barlow Bold"/>
                <a:sym typeface="Barlow Bold"/>
              </a:rPr>
              <a:t>9 cases (10.47%)</a:t>
            </a:r>
            <a:r>
              <a:rPr lang="en-US" sz="1200">
                <a:solidFill>
                  <a:srgbClr val="E5E0DF"/>
                </a:solidFill>
                <a:latin typeface="Barlow"/>
                <a:ea typeface="Barlow"/>
                <a:cs typeface="Barlow"/>
                <a:sym typeface="Barlow"/>
              </a:rPr>
              <a:t>.</a:t>
            </a:r>
          </a:p>
          <a:p>
            <a:pPr algn="l">
              <a:lnSpc>
                <a:spcPts val="1438"/>
              </a:lnSpc>
            </a:pPr>
            <a:r>
              <a:rPr lang="en-US" sz="1200">
                <a:solidFill>
                  <a:srgbClr val="E5E0DF"/>
                </a:solidFill>
                <a:latin typeface="Barlow"/>
                <a:ea typeface="Barlow"/>
                <a:cs typeface="Barlow"/>
                <a:sym typeface="Barlow"/>
              </a:rPr>
              <a:t>• Primary education participants accounted for the majority of reported cases.</a:t>
            </a:r>
          </a:p>
        </p:txBody>
      </p:sp>
      <p:sp>
        <p:nvSpPr>
          <p:cNvPr name="TextBox 15" id="15"/>
          <p:cNvSpPr txBox="true"/>
          <p:nvPr/>
        </p:nvSpPr>
        <p:spPr>
          <a:xfrm rot="0">
            <a:off x="10992002" y="4162130"/>
            <a:ext cx="4343400" cy="466725"/>
          </a:xfrm>
          <a:prstGeom prst="rect">
            <a:avLst/>
          </a:prstGeom>
        </p:spPr>
        <p:txBody>
          <a:bodyPr anchor="t" rtlCol="false" tIns="0" lIns="0" bIns="0" rIns="0">
            <a:spAutoFit/>
          </a:bodyPr>
          <a:lstStyle/>
          <a:p>
            <a:pPr algn="l">
              <a:lnSpc>
                <a:spcPts val="3369"/>
              </a:lnSpc>
            </a:pPr>
            <a:r>
              <a:rPr lang="en-US" sz="2700" b="true">
                <a:solidFill>
                  <a:srgbClr val="FFFFFF"/>
                </a:solidFill>
                <a:latin typeface="Barlow Bold"/>
                <a:ea typeface="Barlow Bold"/>
                <a:cs typeface="Barlow Bold"/>
                <a:sym typeface="Barlow Bold"/>
              </a:rPr>
              <a:t>Education Tiers</a:t>
            </a:r>
          </a:p>
        </p:txBody>
      </p:sp>
      <p:sp>
        <p:nvSpPr>
          <p:cNvPr name="TextBox 16" id="16"/>
          <p:cNvSpPr txBox="true"/>
          <p:nvPr/>
        </p:nvSpPr>
        <p:spPr>
          <a:xfrm rot="0">
            <a:off x="10992002" y="4705950"/>
            <a:ext cx="6225330" cy="740569"/>
          </a:xfrm>
          <a:prstGeom prst="rect">
            <a:avLst/>
          </a:prstGeom>
        </p:spPr>
        <p:txBody>
          <a:bodyPr anchor="t" rtlCol="false" tIns="0" lIns="0" bIns="0" rIns="0">
            <a:spAutoFit/>
          </a:bodyPr>
          <a:lstStyle/>
          <a:p>
            <a:pPr algn="l">
              <a:lnSpc>
                <a:spcPts val="1438"/>
              </a:lnSpc>
            </a:pPr>
            <a:r>
              <a:rPr lang="en-US" sz="1200">
                <a:solidFill>
                  <a:srgbClr val="E5E0DF"/>
                </a:solidFill>
                <a:latin typeface="Barlow"/>
                <a:ea typeface="Barlow"/>
                <a:cs typeface="Barlow"/>
                <a:sym typeface="Barlow"/>
              </a:rPr>
              <a:t>• Primary Education</a:t>
            </a:r>
          </a:p>
          <a:p>
            <a:pPr algn="l">
              <a:lnSpc>
                <a:spcPts val="1438"/>
              </a:lnSpc>
            </a:pPr>
            <a:r>
              <a:rPr lang="en-US" sz="1200">
                <a:solidFill>
                  <a:srgbClr val="E5E0DF"/>
                </a:solidFill>
                <a:latin typeface="Barlow"/>
                <a:ea typeface="Barlow"/>
                <a:cs typeface="Barlow"/>
                <a:sym typeface="Barlow"/>
              </a:rPr>
              <a:t>• Secondary Education</a:t>
            </a:r>
          </a:p>
          <a:p>
            <a:pPr algn="l">
              <a:lnSpc>
                <a:spcPts val="1438"/>
              </a:lnSpc>
            </a:pPr>
            <a:r>
              <a:rPr lang="en-US" sz="1200">
                <a:solidFill>
                  <a:srgbClr val="E5E0DF"/>
                </a:solidFill>
                <a:latin typeface="Barlow"/>
                <a:ea typeface="Barlow"/>
                <a:cs typeface="Barlow"/>
                <a:sym typeface="Barlow"/>
              </a:rPr>
              <a:t>• No Formal Education</a:t>
            </a:r>
          </a:p>
          <a:p>
            <a:pPr algn="l">
              <a:lnSpc>
                <a:spcPts val="1438"/>
              </a:lnSpc>
            </a:pPr>
            <a:r>
              <a:rPr lang="en-US" sz="1200">
                <a:solidFill>
                  <a:srgbClr val="E5E0DF"/>
                </a:solidFill>
                <a:latin typeface="Barlow"/>
                <a:ea typeface="Barlow"/>
                <a:cs typeface="Barlow"/>
                <a:sym typeface="Barlow"/>
              </a:rPr>
              <a:t>• Tertiary Education</a:t>
            </a:r>
          </a:p>
        </p:txBody>
      </p:sp>
      <p:sp>
        <p:nvSpPr>
          <p:cNvPr name="TextBox 17" id="17"/>
          <p:cNvSpPr txBox="true"/>
          <p:nvPr/>
        </p:nvSpPr>
        <p:spPr>
          <a:xfrm rot="0">
            <a:off x="10992002" y="5485505"/>
            <a:ext cx="4343400" cy="466725"/>
          </a:xfrm>
          <a:prstGeom prst="rect">
            <a:avLst/>
          </a:prstGeom>
        </p:spPr>
        <p:txBody>
          <a:bodyPr anchor="t" rtlCol="false" tIns="0" lIns="0" bIns="0" rIns="0">
            <a:spAutoFit/>
          </a:bodyPr>
          <a:lstStyle/>
          <a:p>
            <a:pPr algn="l">
              <a:lnSpc>
                <a:spcPts val="3369"/>
              </a:lnSpc>
            </a:pPr>
            <a:r>
              <a:rPr lang="en-US" sz="2700" b="true">
                <a:solidFill>
                  <a:srgbClr val="FFFFFF"/>
                </a:solidFill>
                <a:latin typeface="Barlow Bold"/>
                <a:ea typeface="Barlow Bold"/>
                <a:cs typeface="Barlow Bold"/>
                <a:sym typeface="Barlow Bold"/>
              </a:rPr>
              <a:t>Analysis Focus</a:t>
            </a:r>
          </a:p>
        </p:txBody>
      </p:sp>
      <p:sp>
        <p:nvSpPr>
          <p:cNvPr name="TextBox 18" id="18"/>
          <p:cNvSpPr txBox="true"/>
          <p:nvPr/>
        </p:nvSpPr>
        <p:spPr>
          <a:xfrm rot="0">
            <a:off x="10992002" y="6029325"/>
            <a:ext cx="6225330" cy="948633"/>
          </a:xfrm>
          <a:prstGeom prst="rect">
            <a:avLst/>
          </a:prstGeom>
        </p:spPr>
        <p:txBody>
          <a:bodyPr anchor="t" rtlCol="false" tIns="0" lIns="0" bIns="0" rIns="0">
            <a:spAutoFit/>
          </a:bodyPr>
          <a:lstStyle/>
          <a:p>
            <a:pPr algn="l">
              <a:lnSpc>
                <a:spcPts val="1438"/>
              </a:lnSpc>
            </a:pPr>
            <a:r>
              <a:rPr lang="en-US" sz="1200">
                <a:solidFill>
                  <a:srgbClr val="E5E0DF"/>
                </a:solidFill>
                <a:latin typeface="Barlow"/>
                <a:ea typeface="Barlow"/>
                <a:cs typeface="Barlow"/>
                <a:sym typeface="Barlow"/>
              </a:rPr>
              <a:t>• Compare domestic violence cases across education levels.</a:t>
            </a:r>
          </a:p>
          <a:p>
            <a:pPr algn="l">
              <a:lnSpc>
                <a:spcPts val="1438"/>
              </a:lnSpc>
            </a:pPr>
            <a:r>
              <a:rPr lang="en-US" sz="1200">
                <a:solidFill>
                  <a:srgbClr val="E5E0DF"/>
                </a:solidFill>
                <a:latin typeface="Barlow"/>
                <a:ea typeface="Barlow"/>
                <a:cs typeface="Barlow"/>
                <a:sym typeface="Barlow"/>
              </a:rPr>
              <a:t>• Identify the education category with the highest number of cases.</a:t>
            </a:r>
          </a:p>
          <a:p>
            <a:pPr algn="l">
              <a:lnSpc>
                <a:spcPts val="1438"/>
              </a:lnSpc>
            </a:pPr>
            <a:r>
              <a:rPr lang="en-US" sz="1200">
                <a:solidFill>
                  <a:srgbClr val="E5E0DF"/>
                </a:solidFill>
                <a:latin typeface="Barlow"/>
                <a:ea typeface="Barlow"/>
                <a:cs typeface="Barlow"/>
                <a:sym typeface="Barlow"/>
              </a:rPr>
              <a:t>• Analyze the relationship between education and domestic violence.</a:t>
            </a:r>
          </a:p>
          <a:p>
            <a:pPr algn="l">
              <a:lnSpc>
                <a:spcPts val="1438"/>
              </a:lnSpc>
            </a:pPr>
            <a:r>
              <a:rPr lang="en-US" sz="1200">
                <a:solidFill>
                  <a:srgbClr val="E5E0DF"/>
                </a:solidFill>
                <a:latin typeface="Barlow"/>
                <a:ea typeface="Barlow"/>
                <a:cs typeface="Barlow"/>
                <a:sym typeface="Barlow"/>
              </a:rPr>
              <a:t>• Support awareness and educational intervention programs.</a:t>
            </a:r>
          </a:p>
        </p:txBody>
      </p:sp>
      <p:sp>
        <p:nvSpPr>
          <p:cNvPr name="TextBox 19" id="19"/>
          <p:cNvSpPr txBox="true"/>
          <p:nvPr/>
        </p:nvSpPr>
        <p:spPr>
          <a:xfrm rot="0">
            <a:off x="1080049" y="9312031"/>
            <a:ext cx="4343400" cy="466725"/>
          </a:xfrm>
          <a:prstGeom prst="rect">
            <a:avLst/>
          </a:prstGeom>
        </p:spPr>
        <p:txBody>
          <a:bodyPr anchor="t" rtlCol="false" tIns="0" lIns="0" bIns="0" rIns="0">
            <a:spAutoFit/>
          </a:bodyPr>
          <a:lstStyle/>
          <a:p>
            <a:pPr algn="l">
              <a:lnSpc>
                <a:spcPts val="3369"/>
              </a:lnSpc>
            </a:pPr>
            <a:r>
              <a:rPr lang="en-US" sz="2700" b="true">
                <a:solidFill>
                  <a:srgbClr val="FFFFFF"/>
                </a:solidFill>
                <a:latin typeface="Barlow Bold"/>
                <a:ea typeface="Barlow Bold"/>
                <a:cs typeface="Barlow Bold"/>
                <a:sym typeface="Barlow Bold"/>
              </a:rPr>
              <a:t>Conclusion</a:t>
            </a:r>
          </a:p>
        </p:txBody>
      </p:sp>
      <p:grpSp>
        <p:nvGrpSpPr>
          <p:cNvPr name="Group 20" id="20"/>
          <p:cNvGrpSpPr/>
          <p:nvPr/>
        </p:nvGrpSpPr>
        <p:grpSpPr>
          <a:xfrm rot="0">
            <a:off x="1080049" y="9894389"/>
            <a:ext cx="19050" cy="358521"/>
            <a:chOff x="0" y="0"/>
            <a:chExt cx="25400" cy="478028"/>
          </a:xfrm>
        </p:grpSpPr>
        <p:sp>
          <p:nvSpPr>
            <p:cNvPr name="Freeform 21" id="21"/>
            <p:cNvSpPr/>
            <p:nvPr/>
          </p:nvSpPr>
          <p:spPr>
            <a:xfrm flipH="false" flipV="false" rot="0">
              <a:off x="0" y="0"/>
              <a:ext cx="25400" cy="478028"/>
            </a:xfrm>
            <a:custGeom>
              <a:avLst/>
              <a:gdLst/>
              <a:ahLst/>
              <a:cxnLst/>
              <a:rect r="r" b="b" t="t" l="l"/>
              <a:pathLst>
                <a:path h="478028" w="25400">
                  <a:moveTo>
                    <a:pt x="0" y="12700"/>
                  </a:moveTo>
                  <a:cubicBezTo>
                    <a:pt x="0" y="5715"/>
                    <a:pt x="5715" y="0"/>
                    <a:pt x="12700" y="0"/>
                  </a:cubicBezTo>
                  <a:cubicBezTo>
                    <a:pt x="19685" y="0"/>
                    <a:pt x="25400" y="5715"/>
                    <a:pt x="25400" y="12700"/>
                  </a:cubicBezTo>
                  <a:lnTo>
                    <a:pt x="25400" y="465328"/>
                  </a:lnTo>
                  <a:cubicBezTo>
                    <a:pt x="25400" y="472313"/>
                    <a:pt x="19685" y="478028"/>
                    <a:pt x="12700" y="478028"/>
                  </a:cubicBezTo>
                  <a:cubicBezTo>
                    <a:pt x="5715" y="478028"/>
                    <a:pt x="0" y="472313"/>
                    <a:pt x="0" y="465328"/>
                  </a:cubicBezTo>
                  <a:close/>
                </a:path>
              </a:pathLst>
            </a:custGeom>
            <a:solidFill>
              <a:srgbClr val="F65F62"/>
            </a:solidFill>
          </p:spPr>
        </p:sp>
      </p:grpSp>
      <p:sp>
        <p:nvSpPr>
          <p:cNvPr name="TextBox 22" id="22"/>
          <p:cNvSpPr txBox="true"/>
          <p:nvPr/>
        </p:nvSpPr>
        <p:spPr>
          <a:xfrm rot="0">
            <a:off x="1311478" y="9981162"/>
            <a:ext cx="16810882" cy="185137"/>
          </a:xfrm>
          <a:prstGeom prst="rect">
            <a:avLst/>
          </a:prstGeom>
        </p:spPr>
        <p:txBody>
          <a:bodyPr anchor="t" rtlCol="false" tIns="0" lIns="0" bIns="0" rIns="0">
            <a:spAutoFit/>
          </a:bodyPr>
          <a:lstStyle/>
          <a:p>
            <a:pPr algn="l">
              <a:lnSpc>
                <a:spcPts val="1438"/>
              </a:lnSpc>
            </a:pPr>
            <a:r>
              <a:rPr lang="en-US" sz="1200">
                <a:solidFill>
                  <a:srgbClr val="E5E0DF"/>
                </a:solidFill>
                <a:latin typeface="Barlow"/>
                <a:ea typeface="Barlow"/>
                <a:cs typeface="Barlow"/>
                <a:sym typeface="Barlow"/>
              </a:rPr>
              <a:t>The analysis indicates that participants with primary education reported the highest number of domestic violence cases, suggesting that education level may influence domestic violence patterns.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91718">
                <a:alpha val="81176"/>
              </a:srgbClr>
            </a:solidFill>
          </p:spPr>
        </p:sp>
      </p:grpSp>
      <p:sp>
        <p:nvSpPr>
          <p:cNvPr name="TextBox 6" id="6"/>
          <p:cNvSpPr txBox="true"/>
          <p:nvPr/>
        </p:nvSpPr>
        <p:spPr>
          <a:xfrm rot="0">
            <a:off x="1080049" y="1144038"/>
            <a:ext cx="7772400" cy="933450"/>
          </a:xfrm>
          <a:prstGeom prst="rect">
            <a:avLst/>
          </a:prstGeom>
        </p:spPr>
        <p:txBody>
          <a:bodyPr anchor="t" rtlCol="false" tIns="0" lIns="0" bIns="0" rIns="0">
            <a:spAutoFit/>
          </a:bodyPr>
          <a:lstStyle/>
          <a:p>
            <a:pPr algn="l">
              <a:lnSpc>
                <a:spcPts val="6738"/>
              </a:lnSpc>
            </a:pPr>
            <a:r>
              <a:rPr lang="en-US" sz="5400" b="true">
                <a:solidFill>
                  <a:srgbClr val="FFFFFF"/>
                </a:solidFill>
                <a:latin typeface="Barlow Bold"/>
                <a:ea typeface="Barlow Bold"/>
                <a:cs typeface="Barlow Bold"/>
                <a:sym typeface="Barlow Bold"/>
              </a:rPr>
              <a:t> Overall Conclusion</a:t>
            </a:r>
          </a:p>
        </p:txBody>
      </p:sp>
      <p:sp>
        <p:nvSpPr>
          <p:cNvPr name="TextBox 7" id="7"/>
          <p:cNvSpPr txBox="true"/>
          <p:nvPr/>
        </p:nvSpPr>
        <p:spPr>
          <a:xfrm rot="0">
            <a:off x="1080049" y="2485130"/>
            <a:ext cx="17042311" cy="703364"/>
          </a:xfrm>
          <a:prstGeom prst="rect">
            <a:avLst/>
          </a:prstGeom>
        </p:spPr>
        <p:txBody>
          <a:bodyPr anchor="t" rtlCol="false" tIns="0" lIns="0" bIns="0" rIns="0">
            <a:spAutoFit/>
          </a:bodyPr>
          <a:lstStyle/>
          <a:p>
            <a:pPr algn="l">
              <a:lnSpc>
                <a:spcPts val="3830"/>
              </a:lnSpc>
            </a:pPr>
            <a:r>
              <a:rPr lang="en-US" sz="2400">
                <a:solidFill>
                  <a:srgbClr val="E5E0DF"/>
                </a:solidFill>
                <a:latin typeface="Barlow"/>
                <a:ea typeface="Barlow"/>
                <a:cs typeface="Barlow"/>
                <a:sym typeface="Barlow"/>
              </a:rPr>
              <a:t>Key Conclusions</a:t>
            </a:r>
          </a:p>
        </p:txBody>
      </p:sp>
      <p:sp>
        <p:nvSpPr>
          <p:cNvPr name="TextBox 8" id="8"/>
          <p:cNvSpPr txBox="true"/>
          <p:nvPr/>
        </p:nvSpPr>
        <p:spPr>
          <a:xfrm rot="0">
            <a:off x="1080049" y="3326006"/>
            <a:ext cx="16127911" cy="3711921"/>
          </a:xfrm>
          <a:prstGeom prst="rect">
            <a:avLst/>
          </a:prstGeom>
        </p:spPr>
        <p:txBody>
          <a:bodyPr anchor="t" rtlCol="false" tIns="0" lIns="0" bIns="0" rIns="0">
            <a:spAutoFit/>
          </a:bodyPr>
          <a:lstStyle/>
          <a:p>
            <a:pPr algn="l" marL="579120" indent="-193040" lvl="2">
              <a:lnSpc>
                <a:spcPts val="3830"/>
              </a:lnSpc>
              <a:buFont typeface="Arial"/>
              <a:buChar char="⚬"/>
            </a:pPr>
            <a:r>
              <a:rPr lang="en-US" sz="2400">
                <a:solidFill>
                  <a:srgbClr val="E5E0DF"/>
                </a:solidFill>
                <a:latin typeface="Barlow"/>
                <a:ea typeface="Barlow"/>
                <a:cs typeface="Barlow"/>
                <a:sym typeface="Barlow"/>
              </a:rPr>
              <a:t>A total of 86 domestic violence cases were reported.</a:t>
            </a:r>
          </a:p>
          <a:p>
            <a:pPr algn="l" marL="579120" indent="-193040" lvl="2">
              <a:lnSpc>
                <a:spcPts val="3830"/>
              </a:lnSpc>
              <a:buFont typeface="Arial"/>
              <a:buChar char="⚬"/>
            </a:pPr>
            <a:r>
              <a:rPr lang="en-US" sz="2400">
                <a:solidFill>
                  <a:srgbClr val="E5E0DF"/>
                </a:solidFill>
                <a:latin typeface="Barlow"/>
                <a:ea typeface="Barlow"/>
                <a:cs typeface="Barlow"/>
                <a:sym typeface="Barlow"/>
              </a:rPr>
              <a:t>Adults reported the highest number of cases.</a:t>
            </a:r>
          </a:p>
          <a:p>
            <a:pPr algn="l" marL="579120" indent="-193040" lvl="2">
              <a:lnSpc>
                <a:spcPts val="3830"/>
              </a:lnSpc>
              <a:buFont typeface="Arial"/>
              <a:buChar char="⚬"/>
            </a:pPr>
            <a:r>
              <a:rPr lang="en-US" sz="2400">
                <a:solidFill>
                  <a:srgbClr val="E5E0DF"/>
                </a:solidFill>
                <a:latin typeface="Barlow"/>
                <a:ea typeface="Barlow"/>
                <a:cs typeface="Barlow"/>
                <a:sym typeface="Barlow"/>
              </a:rPr>
              <a:t>Unemployed individuals experienced the highest incidence.</a:t>
            </a:r>
          </a:p>
          <a:p>
            <a:pPr algn="l" marL="579120" indent="-193040" lvl="2">
              <a:lnSpc>
                <a:spcPts val="3830"/>
              </a:lnSpc>
              <a:buFont typeface="Arial"/>
              <a:buChar char="⚬"/>
            </a:pPr>
            <a:r>
              <a:rPr lang="en-US" sz="2400">
                <a:solidFill>
                  <a:srgbClr val="E5E0DF"/>
                </a:solidFill>
                <a:latin typeface="Barlow"/>
                <a:ea typeface="Barlow"/>
                <a:cs typeface="Barlow"/>
                <a:sym typeface="Barlow"/>
              </a:rPr>
              <a:t>Married participants accounted for most reported cases.</a:t>
            </a:r>
          </a:p>
          <a:p>
            <a:pPr algn="l" marL="579120" indent="-193040" lvl="2">
              <a:lnSpc>
                <a:spcPts val="3830"/>
              </a:lnSpc>
              <a:buFont typeface="Arial"/>
              <a:buChar char="⚬"/>
            </a:pPr>
            <a:r>
              <a:rPr lang="en-US" sz="2400">
                <a:solidFill>
                  <a:srgbClr val="E5E0DF"/>
                </a:solidFill>
                <a:latin typeface="Barlow"/>
                <a:ea typeface="Barlow"/>
                <a:cs typeface="Barlow"/>
                <a:sym typeface="Barlow"/>
              </a:rPr>
              <a:t>Primary education participants showed the highest case count.</a:t>
            </a:r>
          </a:p>
          <a:p>
            <a:pPr algn="l" marL="579120" indent="-193040" lvl="2">
              <a:lnSpc>
                <a:spcPts val="3830"/>
              </a:lnSpc>
              <a:buFont typeface="Arial"/>
              <a:buChar char="⚬"/>
            </a:pPr>
            <a:r>
              <a:rPr lang="en-US" sz="2400">
                <a:solidFill>
                  <a:srgbClr val="E5E0DF"/>
                </a:solidFill>
                <a:latin typeface="Barlow"/>
                <a:ea typeface="Barlow"/>
                <a:cs typeface="Barlow"/>
                <a:sym typeface="Barlow"/>
              </a:rPr>
              <a:t>Socioeconomic and demographic factors influence domestic violence patterns.</a:t>
            </a:r>
          </a:p>
        </p:txBody>
      </p:sp>
      <p:grpSp>
        <p:nvGrpSpPr>
          <p:cNvPr name="Group 9" id="9"/>
          <p:cNvGrpSpPr/>
          <p:nvPr/>
        </p:nvGrpSpPr>
        <p:grpSpPr>
          <a:xfrm rot="0">
            <a:off x="1080049" y="7384999"/>
            <a:ext cx="38100" cy="1681639"/>
            <a:chOff x="0" y="0"/>
            <a:chExt cx="50800" cy="2242185"/>
          </a:xfrm>
        </p:grpSpPr>
        <p:sp>
          <p:nvSpPr>
            <p:cNvPr name="Freeform 10" id="10"/>
            <p:cNvSpPr/>
            <p:nvPr/>
          </p:nvSpPr>
          <p:spPr>
            <a:xfrm flipH="false" flipV="false" rot="0">
              <a:off x="0" y="0"/>
              <a:ext cx="50800" cy="2242185"/>
            </a:xfrm>
            <a:custGeom>
              <a:avLst/>
              <a:gdLst/>
              <a:ahLst/>
              <a:cxnLst/>
              <a:rect r="r" b="b" t="t" l="l"/>
              <a:pathLst>
                <a:path h="2242185" w="50800">
                  <a:moveTo>
                    <a:pt x="0" y="25400"/>
                  </a:moveTo>
                  <a:cubicBezTo>
                    <a:pt x="0" y="11430"/>
                    <a:pt x="11430" y="0"/>
                    <a:pt x="25400" y="0"/>
                  </a:cubicBezTo>
                  <a:cubicBezTo>
                    <a:pt x="39370" y="0"/>
                    <a:pt x="50800" y="11430"/>
                    <a:pt x="50800" y="25400"/>
                  </a:cubicBezTo>
                  <a:lnTo>
                    <a:pt x="50800" y="2216785"/>
                  </a:lnTo>
                  <a:cubicBezTo>
                    <a:pt x="50800" y="2230755"/>
                    <a:pt x="39370" y="2242185"/>
                    <a:pt x="25400" y="2242185"/>
                  </a:cubicBezTo>
                  <a:cubicBezTo>
                    <a:pt x="11430" y="2242185"/>
                    <a:pt x="0" y="2230755"/>
                    <a:pt x="0" y="2216785"/>
                  </a:cubicBezTo>
                  <a:close/>
                </a:path>
              </a:pathLst>
            </a:custGeom>
            <a:solidFill>
              <a:srgbClr val="F65F62"/>
            </a:solidFill>
          </p:spPr>
        </p:sp>
      </p:grpSp>
      <p:sp>
        <p:nvSpPr>
          <p:cNvPr name="TextBox 11" id="11"/>
          <p:cNvSpPr txBox="true"/>
          <p:nvPr/>
        </p:nvSpPr>
        <p:spPr>
          <a:xfrm rot="0">
            <a:off x="1542898" y="7522521"/>
            <a:ext cx="15665053" cy="1197178"/>
          </a:xfrm>
          <a:prstGeom prst="rect">
            <a:avLst/>
          </a:prstGeom>
        </p:spPr>
        <p:txBody>
          <a:bodyPr anchor="t" rtlCol="false" tIns="0" lIns="0" bIns="0" rIns="0">
            <a:spAutoFit/>
          </a:bodyPr>
          <a:lstStyle/>
          <a:p>
            <a:pPr algn="l">
              <a:lnSpc>
                <a:spcPts val="3830"/>
              </a:lnSpc>
            </a:pPr>
            <a:r>
              <a:rPr lang="en-US" sz="2400">
                <a:solidFill>
                  <a:srgbClr val="E5E0DF"/>
                </a:solidFill>
                <a:latin typeface="Barlow"/>
                <a:ea typeface="Barlow"/>
                <a:cs typeface="Barlow"/>
                <a:sym typeface="Barlow"/>
              </a:rPr>
              <a:t>The analysis demonstrates that age, employment, marital status, and education level play an important role in domestic violence patterns and can support data-driven social interventions.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DAHOWEnCLWw</dc:identifier>
  <dcterms:modified xsi:type="dcterms:W3CDTF">2011-08-01T06:04:30Z</dcterms:modified>
  <cp:revision>1</cp:revision>
  <dc:title>Domestic-Violence-Analysis.pptx.pptx</dc:title>
</cp:coreProperties>
</file>